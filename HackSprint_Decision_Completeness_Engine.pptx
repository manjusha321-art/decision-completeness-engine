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embeddedFontLst>
    <p:embeddedFont>
      <p:font typeface="Playfair Display SemiBold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hRct6WhpjnLYkE824ii1GYaFHa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PlayfairDisplaySemiBold-regular.fntdata"/><Relationship Id="rId14" Type="http://schemas.openxmlformats.org/officeDocument/2006/relationships/font" Target="fonts/PlayfairDisplaySemiBold-bold.fntdata"/><Relationship Id="rId15" Type="http://schemas.openxmlformats.org/officeDocument/2006/relationships/font" Target="fonts/PlayfairDisplaySemiBold-italic.fntdata"/><Relationship Id="rId16" Type="http://schemas.openxmlformats.org/officeDocument/2006/relationships/font" Target="fonts/PlayfairDisplaySemiBold-boldItalic.fntdata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4.png"/><Relationship Id="rId8" Type="http://schemas.openxmlformats.org/officeDocument/2006/relationships/image" Target="../media/image14.png"/><Relationship Id="rId9" Type="http://schemas.openxmlformats.org/officeDocument/2006/relationships/image" Target="../media/image2.png"/><Relationship Id="rId10" Type="http://schemas.openxmlformats.org/officeDocument/2006/relationships/image" Target="../media/image6.png"/><Relationship Id="rId11" Type="http://schemas.openxmlformats.org/officeDocument/2006/relationships/image" Target="../media/image3.png"/><Relationship Id="rId12" Type="http://schemas.openxmlformats.org/officeDocument/2006/relationships/image" Target="../media/image13.png"/><Relationship Id="rId13" Type="http://schemas.openxmlformats.org/officeDocument/2006/relationships/image" Target="../media/image8.png"/><Relationship Id="rId14" Type="http://schemas.openxmlformats.org/officeDocument/2006/relationships/image" Target="../media/image7.png"/><Relationship Id="rId15" Type="http://schemas.openxmlformats.org/officeDocument/2006/relationships/image" Target="../media/image16.png"/><Relationship Id="rId16" Type="http://schemas.openxmlformats.org/officeDocument/2006/relationships/image" Target="../media/image10.png"/><Relationship Id="rId17" Type="http://schemas.openxmlformats.org/officeDocument/2006/relationships/image" Target="../media/image9.png"/><Relationship Id="rId18" Type="http://schemas.openxmlformats.org/officeDocument/2006/relationships/image" Target="../media/image1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1274325" y="307375"/>
            <a:ext cx="14692810" cy="1101598"/>
          </a:xfrm>
          <a:custGeom>
            <a:rect b="b" l="l" r="r" t="t"/>
            <a:pathLst>
              <a:path extrusionOk="0" h="1101598" w="14127702">
                <a:moveTo>
                  <a:pt x="0" y="0"/>
                </a:moveTo>
                <a:lnTo>
                  <a:pt x="14127702" y="0"/>
                </a:lnTo>
                <a:lnTo>
                  <a:pt x="14127702" y="1101598"/>
                </a:lnTo>
                <a:lnTo>
                  <a:pt x="0" y="11015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0072" l="-953" r="-12923" t="-10072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1591320" y="362859"/>
            <a:ext cx="610238" cy="832142"/>
          </a:xfrm>
          <a:custGeom>
            <a:rect b="b" l="l" r="r" t="t"/>
            <a:pathLst>
              <a:path extrusionOk="0" h="832142" w="610238">
                <a:moveTo>
                  <a:pt x="0" y="0"/>
                </a:moveTo>
                <a:lnTo>
                  <a:pt x="610237" y="0"/>
                </a:lnTo>
                <a:lnTo>
                  <a:pt x="610237" y="832142"/>
                </a:lnTo>
                <a:lnTo>
                  <a:pt x="0" y="832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4415789" y="372692"/>
            <a:ext cx="901250" cy="901250"/>
          </a:xfrm>
          <a:custGeom>
            <a:rect b="b" l="l" r="r" t="t"/>
            <a:pathLst>
              <a:path extrusionOk="0" h="901250" w="901250">
                <a:moveTo>
                  <a:pt x="0" y="0"/>
                </a:moveTo>
                <a:lnTo>
                  <a:pt x="901249" y="0"/>
                </a:lnTo>
                <a:lnTo>
                  <a:pt x="901249" y="901249"/>
                </a:lnTo>
                <a:lnTo>
                  <a:pt x="0" y="9012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13628758" y="488306"/>
            <a:ext cx="1172861" cy="616220"/>
          </a:xfrm>
          <a:custGeom>
            <a:rect b="b" l="l" r="r" t="t"/>
            <a:pathLst>
              <a:path extrusionOk="0" h="616220" w="1172861">
                <a:moveTo>
                  <a:pt x="0" y="0"/>
                </a:moveTo>
                <a:lnTo>
                  <a:pt x="1172860" y="0"/>
                </a:lnTo>
                <a:lnTo>
                  <a:pt x="1172860" y="616220"/>
                </a:lnTo>
                <a:lnTo>
                  <a:pt x="0" y="6162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5926638" y="538306"/>
            <a:ext cx="1721890" cy="626142"/>
          </a:xfrm>
          <a:custGeom>
            <a:rect b="b" l="l" r="r" t="t"/>
            <a:pathLst>
              <a:path extrusionOk="0" h="626142" w="1721890">
                <a:moveTo>
                  <a:pt x="0" y="0"/>
                </a:moveTo>
                <a:lnTo>
                  <a:pt x="1721890" y="0"/>
                </a:lnTo>
                <a:lnTo>
                  <a:pt x="1721890" y="626142"/>
                </a:lnTo>
                <a:lnTo>
                  <a:pt x="0" y="626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156816" l="-72694" r="-73660" t="-170790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>
            <a:off x="8258128" y="488306"/>
            <a:ext cx="1474047" cy="670021"/>
          </a:xfrm>
          <a:custGeom>
            <a:rect b="b" l="l" r="r" t="t"/>
            <a:pathLst>
              <a:path extrusionOk="0" h="670021" w="1474047">
                <a:moveTo>
                  <a:pt x="0" y="0"/>
                </a:moveTo>
                <a:lnTo>
                  <a:pt x="1474047" y="0"/>
                </a:lnTo>
                <a:lnTo>
                  <a:pt x="1474047" y="670021"/>
                </a:lnTo>
                <a:lnTo>
                  <a:pt x="0" y="670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91756" l="-16057" r="-11397" t="-88646"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>
            <a:off x="10341775" y="488306"/>
            <a:ext cx="2677383" cy="585678"/>
          </a:xfrm>
          <a:custGeom>
            <a:rect b="b" l="l" r="r" t="t"/>
            <a:pathLst>
              <a:path extrusionOk="0" h="585678" w="2677383">
                <a:moveTo>
                  <a:pt x="0" y="0"/>
                </a:moveTo>
                <a:lnTo>
                  <a:pt x="2677383" y="0"/>
                </a:lnTo>
                <a:lnTo>
                  <a:pt x="2677383" y="585677"/>
                </a:lnTo>
                <a:lnTo>
                  <a:pt x="0" y="5856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"/>
          <p:cNvSpPr txBox="1"/>
          <p:nvPr/>
        </p:nvSpPr>
        <p:spPr>
          <a:xfrm>
            <a:off x="2149315" y="481156"/>
            <a:ext cx="1655535" cy="461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52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MANIPAL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2149315" y="833903"/>
            <a:ext cx="1655535" cy="302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00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3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ACADEMY OF HIGHER EDUCATION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2149315" y="1098287"/>
            <a:ext cx="1655535" cy="132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646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Institution of Embrace Diamant in the University</a:t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12144375" y="3869391"/>
            <a:ext cx="6143625" cy="6417609"/>
          </a:xfrm>
          <a:custGeom>
            <a:rect b="b" l="l" r="r" t="t"/>
            <a:pathLst>
              <a:path extrusionOk="0" h="6417609" w="6143625">
                <a:moveTo>
                  <a:pt x="0" y="0"/>
                </a:moveTo>
                <a:lnTo>
                  <a:pt x="6143625" y="0"/>
                </a:lnTo>
                <a:lnTo>
                  <a:pt x="6143625" y="6417609"/>
                </a:lnTo>
                <a:lnTo>
                  <a:pt x="0" y="6417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-4932" l="0" r="0" t="0"/>
            </a:stretch>
          </a:blipFill>
          <a:ln>
            <a:noFill/>
          </a:ln>
        </p:spPr>
      </p:sp>
      <p:grpSp>
        <p:nvGrpSpPr>
          <p:cNvPr id="97" name="Google Shape;97;p1"/>
          <p:cNvGrpSpPr/>
          <p:nvPr/>
        </p:nvGrpSpPr>
        <p:grpSpPr>
          <a:xfrm>
            <a:off x="1028700" y="1593199"/>
            <a:ext cx="10533832" cy="4930312"/>
            <a:chOff x="0" y="-314325"/>
            <a:chExt cx="12613857" cy="6573749"/>
          </a:xfrm>
        </p:grpSpPr>
        <p:sp>
          <p:nvSpPr>
            <p:cNvPr id="98" name="Google Shape;98;p1"/>
            <p:cNvSpPr txBox="1"/>
            <p:nvPr/>
          </p:nvSpPr>
          <p:spPr>
            <a:xfrm>
              <a:off x="382399" y="-314325"/>
              <a:ext cx="11904300" cy="33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468" u="none" cap="none" strike="noStrike">
                  <a:solidFill>
                    <a:srgbClr val="5DE0E6"/>
                  </a:solidFill>
                  <a:latin typeface="Times"/>
                  <a:ea typeface="Times"/>
                  <a:cs typeface="Times"/>
                  <a:sym typeface="Times"/>
                </a:rPr>
                <a:t>HackSprint</a:t>
              </a:r>
              <a:endParaRPr/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2124439" y="2762951"/>
              <a:ext cx="8394485" cy="1047467"/>
            </a:xfrm>
            <a:custGeom>
              <a:rect b="b" l="l" r="r" t="t"/>
              <a:pathLst>
                <a:path extrusionOk="0" h="1047467" w="8394485">
                  <a:moveTo>
                    <a:pt x="0" y="0"/>
                  </a:moveTo>
                  <a:lnTo>
                    <a:pt x="8394485" y="0"/>
                  </a:lnTo>
                  <a:lnTo>
                    <a:pt x="8394485" y="1047467"/>
                  </a:lnTo>
                  <a:lnTo>
                    <a:pt x="0" y="10474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 b="0" l="-1933" r="-1581" t="-18310"/>
              </a:stretch>
            </a:blipFill>
            <a:ln>
              <a:noFill/>
            </a:ln>
          </p:spPr>
        </p:sp>
        <p:sp>
          <p:nvSpPr>
            <p:cNvPr id="100" name="Google Shape;100;p1"/>
            <p:cNvSpPr/>
            <p:nvPr/>
          </p:nvSpPr>
          <p:spPr>
            <a:xfrm>
              <a:off x="0" y="3795665"/>
              <a:ext cx="12613857" cy="2463759"/>
            </a:xfrm>
            <a:custGeom>
              <a:rect b="b" l="l" r="r" t="t"/>
              <a:pathLst>
                <a:path extrusionOk="0" h="2463759" w="12613857">
                  <a:moveTo>
                    <a:pt x="0" y="0"/>
                  </a:moveTo>
                  <a:lnTo>
                    <a:pt x="12613857" y="0"/>
                  </a:lnTo>
                  <a:lnTo>
                    <a:pt x="12613857" y="2463759"/>
                  </a:lnTo>
                  <a:lnTo>
                    <a:pt x="0" y="24637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1" name="Google Shape;101;p1"/>
            <p:cNvSpPr/>
            <p:nvPr/>
          </p:nvSpPr>
          <p:spPr>
            <a:xfrm>
              <a:off x="3083387" y="4400540"/>
              <a:ext cx="575369" cy="1239256"/>
            </a:xfrm>
            <a:custGeom>
              <a:rect b="b" l="l" r="r" t="t"/>
              <a:pathLst>
                <a:path extrusionOk="0" h="1239256" w="575369">
                  <a:moveTo>
                    <a:pt x="0" y="0"/>
                  </a:moveTo>
                  <a:lnTo>
                    <a:pt x="575369" y="0"/>
                  </a:lnTo>
                  <a:lnTo>
                    <a:pt x="575369" y="1239256"/>
                  </a:lnTo>
                  <a:lnTo>
                    <a:pt x="0" y="12392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2" name="Google Shape;102;p1"/>
            <p:cNvSpPr/>
            <p:nvPr/>
          </p:nvSpPr>
          <p:spPr>
            <a:xfrm>
              <a:off x="8689546" y="4400540"/>
              <a:ext cx="73765" cy="1239256"/>
            </a:xfrm>
            <a:custGeom>
              <a:rect b="b" l="l" r="r" t="t"/>
              <a:pathLst>
                <a:path extrusionOk="0" h="1239256" w="73765">
                  <a:moveTo>
                    <a:pt x="0" y="0"/>
                  </a:moveTo>
                  <a:lnTo>
                    <a:pt x="73765" y="0"/>
                  </a:lnTo>
                  <a:lnTo>
                    <a:pt x="73765" y="1239256"/>
                  </a:lnTo>
                  <a:lnTo>
                    <a:pt x="0" y="12392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6">
                <a:alphaModFix/>
              </a:blip>
              <a:stretch>
                <a:fillRect b="0" l="-20000" r="-280000" t="0"/>
              </a:stretch>
            </a:blipFill>
            <a:ln>
              <a:noFill/>
            </a:ln>
          </p:spPr>
        </p:sp>
        <p:sp>
          <p:nvSpPr>
            <p:cNvPr id="103" name="Google Shape;103;p1"/>
            <p:cNvSpPr txBox="1"/>
            <p:nvPr/>
          </p:nvSpPr>
          <p:spPr>
            <a:xfrm>
              <a:off x="2436968" y="2920863"/>
              <a:ext cx="7221300" cy="7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20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24-Hour Hackathon</a:t>
              </a:r>
              <a:endParaRPr/>
            </a:p>
          </p:txBody>
        </p:sp>
        <p:sp>
          <p:nvSpPr>
            <p:cNvPr id="104" name="Google Shape;104;p1"/>
            <p:cNvSpPr txBox="1"/>
            <p:nvPr/>
          </p:nvSpPr>
          <p:spPr>
            <a:xfrm>
              <a:off x="865835" y="4393321"/>
              <a:ext cx="2417100" cy="101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938" u="none" cap="none" strike="noStrike">
                  <a:solidFill>
                    <a:srgbClr val="5DE0E6"/>
                  </a:solidFill>
                  <a:latin typeface="Arial"/>
                  <a:ea typeface="Arial"/>
                  <a:cs typeface="Arial"/>
                  <a:sym typeface="Arial"/>
                </a:rPr>
                <a:t>17-18</a:t>
              </a:r>
              <a:endParaRPr/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4400894" y="4940029"/>
              <a:ext cx="3474600" cy="74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995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44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Manipal Academy of Higher Education (MAHE)</a:t>
              </a:r>
              <a:endParaRPr/>
            </a:p>
          </p:txBody>
        </p:sp>
        <p:sp>
          <p:nvSpPr>
            <p:cNvPr id="106" name="Google Shape;106;p1"/>
            <p:cNvSpPr txBox="1"/>
            <p:nvPr/>
          </p:nvSpPr>
          <p:spPr>
            <a:xfrm>
              <a:off x="1047112" y="5438889"/>
              <a:ext cx="1389900" cy="3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2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OCTOBER</a:t>
              </a:r>
              <a:endParaRPr/>
            </a:p>
          </p:txBody>
        </p:sp>
        <p:sp>
          <p:nvSpPr>
            <p:cNvPr id="107" name="Google Shape;107;p1"/>
            <p:cNvSpPr txBox="1"/>
            <p:nvPr/>
          </p:nvSpPr>
          <p:spPr>
            <a:xfrm>
              <a:off x="4974964" y="4461918"/>
              <a:ext cx="2296200" cy="3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5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VENUE DETAILS</a:t>
              </a:r>
              <a:endParaRPr/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10141600" y="4781941"/>
              <a:ext cx="1631700" cy="3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5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SATURDAY</a:t>
              </a:r>
              <a:endParaRPr/>
            </a:p>
          </p:txBody>
        </p:sp>
        <p:sp>
          <p:nvSpPr>
            <p:cNvPr id="109" name="Google Shape;109;p1"/>
            <p:cNvSpPr txBox="1"/>
            <p:nvPr/>
          </p:nvSpPr>
          <p:spPr>
            <a:xfrm>
              <a:off x="9416458" y="5168176"/>
              <a:ext cx="2417100" cy="3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85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09 A.M. Onwards</a:t>
              </a:r>
              <a:endParaRPr/>
            </a:p>
          </p:txBody>
        </p:sp>
      </p:grpSp>
      <p:grpSp>
        <p:nvGrpSpPr>
          <p:cNvPr id="110" name="Google Shape;110;p1"/>
          <p:cNvGrpSpPr/>
          <p:nvPr/>
        </p:nvGrpSpPr>
        <p:grpSpPr>
          <a:xfrm>
            <a:off x="1166813" y="8715375"/>
            <a:ext cx="14049375" cy="1085850"/>
            <a:chOff x="0" y="0"/>
            <a:chExt cx="18732500" cy="1447800"/>
          </a:xfrm>
        </p:grpSpPr>
        <p:sp>
          <p:nvSpPr>
            <p:cNvPr id="111" name="Google Shape;111;p1"/>
            <p:cNvSpPr/>
            <p:nvPr/>
          </p:nvSpPr>
          <p:spPr>
            <a:xfrm>
              <a:off x="0" y="0"/>
              <a:ext cx="18732500" cy="1447800"/>
            </a:xfrm>
            <a:custGeom>
              <a:rect b="b" l="l" r="r" t="t"/>
              <a:pathLst>
                <a:path extrusionOk="0" h="1447800" w="18732500">
                  <a:moveTo>
                    <a:pt x="0" y="0"/>
                  </a:moveTo>
                  <a:lnTo>
                    <a:pt x="18732500" y="0"/>
                  </a:lnTo>
                  <a:lnTo>
                    <a:pt x="1873250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7">
                <a:alphaModFix/>
              </a:blip>
              <a:stretch>
                <a:fillRect b="-18422" l="-542" r="-1084" t="-9649"/>
              </a:stretch>
            </a:blipFill>
            <a:ln>
              <a:noFill/>
            </a:ln>
          </p:spPr>
        </p:sp>
        <p:sp>
          <p:nvSpPr>
            <p:cNvPr id="112" name="Google Shape;112;p1"/>
            <p:cNvSpPr/>
            <p:nvPr/>
          </p:nvSpPr>
          <p:spPr>
            <a:xfrm>
              <a:off x="10927848" y="480123"/>
              <a:ext cx="2629904" cy="575802"/>
            </a:xfrm>
            <a:custGeom>
              <a:rect b="b" l="l" r="r" t="t"/>
              <a:pathLst>
                <a:path extrusionOk="0" h="575802" w="2629904">
                  <a:moveTo>
                    <a:pt x="0" y="0"/>
                  </a:moveTo>
                  <a:lnTo>
                    <a:pt x="2629904" y="0"/>
                  </a:lnTo>
                  <a:lnTo>
                    <a:pt x="2629904" y="575802"/>
                  </a:lnTo>
                  <a:lnTo>
                    <a:pt x="0" y="57580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3" name="Google Shape;113;p1"/>
            <p:cNvSpPr txBox="1"/>
            <p:nvPr/>
          </p:nvSpPr>
          <p:spPr>
            <a:xfrm>
              <a:off x="1372006" y="226089"/>
              <a:ext cx="1664614" cy="8298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4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REGISTER NOW</a:t>
              </a:r>
              <a:endParaRPr/>
            </a:p>
          </p:txBody>
        </p:sp>
        <p:sp>
          <p:nvSpPr>
            <p:cNvPr id="114" name="Google Shape;114;p1"/>
            <p:cNvSpPr txBox="1"/>
            <p:nvPr/>
          </p:nvSpPr>
          <p:spPr>
            <a:xfrm>
              <a:off x="7172147" y="252779"/>
              <a:ext cx="1742643" cy="7668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Team Size</a:t>
              </a:r>
              <a:endParaRPr/>
            </a:p>
            <a:p>
              <a:pPr indent="0" lvl="0" marL="0" marR="0" rtl="0" algn="ctr">
                <a:lnSpc>
                  <a:spcPct val="16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1-4 Members</a:t>
              </a:r>
              <a:endParaRPr/>
            </a:p>
          </p:txBody>
        </p:sp>
        <p:sp>
          <p:nvSpPr>
            <p:cNvPr id="115" name="Google Shape;115;p1"/>
            <p:cNvSpPr txBox="1"/>
            <p:nvPr/>
          </p:nvSpPr>
          <p:spPr>
            <a:xfrm>
              <a:off x="12429346" y="130153"/>
              <a:ext cx="2139716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50" u="none" cap="none" strike="noStrike">
                  <a:solidFill>
                    <a:srgbClr val="FFFFFF"/>
                  </a:solidFill>
                  <a:latin typeface="Playfair Display SemiBold"/>
                  <a:ea typeface="Playfair Display SemiBold"/>
                  <a:cs typeface="Playfair Display SemiBold"/>
                  <a:sym typeface="Playfair Display SemiBold"/>
                </a:rPr>
                <a:t>ORGANIZED BY:</a:t>
              </a:r>
              <a:endParaRPr/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14501941" y="232228"/>
              <a:ext cx="721119" cy="983344"/>
            </a:xfrm>
            <a:custGeom>
              <a:rect b="b" l="l" r="r" t="t"/>
              <a:pathLst>
                <a:path extrusionOk="0" h="983344" w="721119">
                  <a:moveTo>
                    <a:pt x="0" y="0"/>
                  </a:moveTo>
                  <a:lnTo>
                    <a:pt x="721119" y="0"/>
                  </a:lnTo>
                  <a:lnTo>
                    <a:pt x="721119" y="983344"/>
                  </a:lnTo>
                  <a:lnTo>
                    <a:pt x="0" y="98334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7" name="Google Shape;117;p1"/>
            <p:cNvSpPr txBox="1"/>
            <p:nvPr/>
          </p:nvSpPr>
          <p:spPr>
            <a:xfrm>
              <a:off x="15125170" y="469001"/>
              <a:ext cx="1260579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14" u="none" cap="none" strike="noStrike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MANIPAL</a:t>
              </a:r>
              <a:endParaRPr/>
            </a:p>
          </p:txBody>
        </p:sp>
        <p:sp>
          <p:nvSpPr>
            <p:cNvPr id="118" name="Google Shape;118;p1"/>
            <p:cNvSpPr txBox="1"/>
            <p:nvPr/>
          </p:nvSpPr>
          <p:spPr>
            <a:xfrm>
              <a:off x="15125170" y="762871"/>
              <a:ext cx="1956349" cy="333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400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29" u="none" cap="none" strike="noStrike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ACADEMY OF HIGHER EDUCATION</a:t>
              </a:r>
              <a:endParaRPr/>
            </a:p>
          </p:txBody>
        </p:sp>
        <p:sp>
          <p:nvSpPr>
            <p:cNvPr id="119" name="Google Shape;119;p1"/>
            <p:cNvSpPr txBox="1"/>
            <p:nvPr/>
          </p:nvSpPr>
          <p:spPr>
            <a:xfrm>
              <a:off x="15125170" y="1075295"/>
              <a:ext cx="1956349" cy="138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3996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573" u="none" cap="none" strike="noStrike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Institution of Embrace Diamant in the University</a:t>
              </a:r>
              <a:endParaRPr/>
            </a:p>
          </p:txBody>
        </p:sp>
      </p:grpSp>
      <p:sp>
        <p:nvSpPr>
          <p:cNvPr id="120" name="Google Shape;120;p1"/>
          <p:cNvSpPr txBox="1"/>
          <p:nvPr/>
        </p:nvSpPr>
        <p:spPr>
          <a:xfrm>
            <a:off x="1371600" y="6217920"/>
            <a:ext cx="102412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23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1">
                <a:solidFill>
                  <a:srgbClr val="0F172A"/>
                </a:solidFill>
                <a:latin typeface="Playfair Display"/>
              </a:rPr>
              <a:t>NAME: </a:t>
            </a:r>
            <a:r>
              <a:rPr sz="1600" b="1">
                <a:solidFill>
                  <a:srgbClr val="0F172A"/>
                </a:solidFill>
                <a:latin typeface="Calibri"/>
              </a:rPr>
              <a:t>Manjusha Varikuppala</a:t>
            </a:r>
            <a:endParaRPr/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Playfair Display"/>
              </a:rPr>
              <a:t>TEAM NAME: </a:t>
            </a:r>
            <a:r>
              <a:rPr sz="1600" b="1">
                <a:solidFill>
                  <a:srgbClr val="4F46E5"/>
                </a:solidFill>
                <a:latin typeface="Calibri"/>
              </a:rPr>
              <a:t>Hackhustlers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Playfair Display"/>
              </a:rPr>
              <a:t>TRACK: </a:t>
            </a:r>
            <a:r>
              <a:rPr sz="1600" b="1">
                <a:solidFill>
                  <a:srgbClr val="0F172A"/>
                </a:solidFill>
                <a:latin typeface="Calibri"/>
              </a:rPr>
              <a:t>Track 01: AI &amp; Enterprise Automation (Open Innovation)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Playfair Display"/>
              </a:rPr>
              <a:t>PROJECT: </a:t>
            </a:r>
            <a:r>
              <a:rPr sz="1600" b="1">
                <a:solidFill>
                  <a:srgbClr val="0D9488"/>
                </a:solidFill>
                <a:latin typeface="Calibri"/>
              </a:rPr>
              <a:t>The Decision Completeness Engine (DCE)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Playfair Display"/>
              </a:rPr>
              <a:t>LIVE DEMO: </a:t>
            </a:r>
            <a:r>
              <a:rPr sz="1600" b="0">
                <a:solidFill>
                  <a:srgbClr val="0F172A"/>
                </a:solidFill>
                <a:latin typeface="Calibri"/>
              </a:rPr>
              <a:t>https://static-outstanding-palm-clarke.trycloudflare.com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26" name="Google Shape;126;p2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2"/>
          <p:cNvSpPr txBox="1"/>
          <p:nvPr/>
        </p:nvSpPr>
        <p:spPr>
          <a:xfrm>
            <a:off x="1028700" y="838200"/>
            <a:ext cx="7685837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78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Solution</a:t>
            </a:r>
            <a:endParaRPr/>
          </a:p>
        </p:txBody>
      </p:sp>
      <p:sp>
        <p:nvSpPr>
          <p:cNvPr id="128" name="Rounded Rectangle 127"/>
          <p:cNvSpPr/>
          <p:nvPr/>
        </p:nvSpPr>
        <p:spPr>
          <a:xfrm>
            <a:off x="1024128" y="2468880"/>
            <a:ext cx="7863840" cy="6949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DC2626"/>
                </a:solidFill>
                <a:latin typeface="Calibri"/>
              </a:defRPr>
            </a:pPr>
            <a:r>
              <a:t>THE PROBLEM: WHY ENTERPRISE DECISIONS FAIL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280160" y="3108960"/>
            <a:ext cx="7315200" cy="15544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wrap="square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Calibri"/>
              </a:rPr>
              <a:t>1. Scattered Context &amp; Silos  </a:t>
            </a:r>
            <a:r>
              <a:rPr sz="1100" b="1">
                <a:solidFill>
                  <a:srgbClr val="1E293B"/>
                </a:solidFill>
                <a:latin typeface="Calibri"/>
              </a:rPr>
              <a:t>[Drive, Email, NetSuite ERP, Spreadsheets]</a:t>
            </a:r>
          </a:p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Information is never in one place at intake. Gaps are discovered late.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1280160" y="4800600"/>
            <a:ext cx="7315200" cy="15544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wrap="square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D97706"/>
                </a:solidFill>
                <a:latin typeface="Calibri"/>
              </a:rPr>
              <a:t>2. Endless Approval Ping-Pong  </a:t>
            </a:r>
            <a:r>
              <a:rPr sz="1100" b="1">
                <a:solidFill>
                  <a:srgbClr val="1E293B"/>
                </a:solidFill>
                <a:latin typeface="Calibri"/>
              </a:rPr>
              <a:t>[2.5 Days Wasted Per Approval]</a:t>
            </a:r>
          </a:p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'You forgot the SOC2 cert', 'Where is budget approval?' Bouncing files wastes 70% of time.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280160" y="6492240"/>
            <a:ext cx="7315200" cy="15544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wrap="square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Calibri"/>
              </a:rPr>
              <a:t>3. Dangerous GenAI Hallucination  </a:t>
            </a:r>
            <a:r>
              <a:rPr sz="1100" b="1">
                <a:solidFill>
                  <a:srgbClr val="1E293B"/>
                </a:solidFill>
                <a:latin typeface="Calibri"/>
              </a:rPr>
              <a:t>[Standard LLMs Confidently Guess]</a:t>
            </a:r>
          </a:p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Most AI asks 'What should I decide?' and hallucinates when missing 50% of the facts.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280160" y="8229600"/>
            <a:ext cx="7315200" cy="868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Result: Decisions are either paralyzed for days or made blindly with missing facts.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9326880" y="2468880"/>
            <a:ext cx="7936992" cy="6949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0D9488"/>
                </a:solidFill>
                <a:latin typeface="Calibri"/>
              </a:defRPr>
            </a:pPr>
            <a:r>
              <a:t>THE SOLUTION: DECISION COMPLETENESS ENGINE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9601200" y="3108960"/>
            <a:ext cx="7388352" cy="105156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9728" wrap="square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1. Core Inversion  </a:t>
            </a:r>
            <a:r>
              <a:rPr sz="1100" b="1">
                <a:solidFill>
                  <a:srgbClr val="1E293B"/>
                </a:solidFill>
                <a:latin typeface="Calibri"/>
              </a:rPr>
              <a:t>[Do I have enough evidence to decide?]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Like a lead doctor ordering tests before diagnosing, we verify completeness first.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9601200" y="4233672"/>
            <a:ext cx="7388352" cy="10515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9728" wrap="square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2. Dynamic Planning  </a:t>
            </a:r>
            <a:r>
              <a:rPr sz="1100" b="1">
                <a:solidFill>
                  <a:srgbClr val="1E293B"/>
                </a:solidFill>
                <a:latin typeface="Calibri"/>
              </a:rPr>
              <a:t>[Inferred Evidence Specs (Not Checklists)]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AI dynamically deduces what evidence is needed based on transaction amount, domain, and risk tier.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9601200" y="5358384"/>
            <a:ext cx="7388352" cy="10515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9728" wrap="square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3. Zero-Hallucination Gate  </a:t>
            </a:r>
            <a:r>
              <a:rPr sz="1100" b="1">
                <a:solidFill>
                  <a:srgbClr val="1E293B"/>
                </a:solidFill>
                <a:latin typeface="Calibri"/>
              </a:rPr>
              <a:t>[Halts &amp; Calculates 0-100% Score]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Guaranteed zero speculation: if critical evidence is absent, the engine blocks decision execution.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9601200" y="6483096"/>
            <a:ext cx="7388352" cy="10515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9728" wrap="square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A34A"/>
                </a:solidFill>
                <a:latin typeface="Calibri"/>
              </a:rPr>
              <a:t>4. Autonomous Self-Healing  </a:t>
            </a:r>
            <a:r>
              <a:rPr sz="1100" b="1">
                <a:solidFill>
                  <a:srgbClr val="1E293B"/>
                </a:solidFill>
                <a:latin typeface="Calibri"/>
              </a:rPr>
              <a:t>[Searches Drive, Mail, ERP, Web]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Silently recovers missing proof from connected enterprise silos before bothering humans.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9601200" y="7607808"/>
            <a:ext cx="7388352" cy="10515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9728" wrap="square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D97706"/>
                </a:solidFill>
                <a:latin typeface="Calibri"/>
              </a:rPr>
              <a:t>5. Precision Human-in-the-Loop  </a:t>
            </a:r>
            <a:r>
              <a:rPr sz="1100" b="1">
                <a:solidFill>
                  <a:srgbClr val="1E293B"/>
                </a:solidFill>
                <a:latin typeface="Calibri"/>
              </a:rPr>
              <a:t>[15-Sec Targeted Micro-Ask]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Sends a surgical Slack/Email card for ONLY the remaining missing delta (e.g. 1-click VP budget approval).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33" name="Google Shape;133;p3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3"/>
          <p:cNvSpPr txBox="1"/>
          <p:nvPr/>
        </p:nvSpPr>
        <p:spPr>
          <a:xfrm>
            <a:off x="1028700" y="838200"/>
            <a:ext cx="13222815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78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Tech Stack &amp; Architecture</a:t>
            </a:r>
            <a:endParaRPr/>
          </a:p>
        </p:txBody>
      </p:sp>
      <p:sp>
        <p:nvSpPr>
          <p:cNvPr id="135" name="Rounded Rectangle 134"/>
          <p:cNvSpPr/>
          <p:nvPr/>
        </p:nvSpPr>
        <p:spPr>
          <a:xfrm>
            <a:off x="1024128" y="2468880"/>
            <a:ext cx="16239744" cy="1572768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0" rIns="365760" tIns="182880" wrap="square"/>
          <a:lstStyle/>
          <a:p>
            <a:pPr algn="ctr">
              <a:spcAft>
                <a:spcPts val="300"/>
              </a:spcAft>
              <a:defRPr sz="1600" b="1">
                <a:solidFill>
                  <a:srgbClr val="4F46E5"/>
                </a:solidFill>
                <a:latin typeface="Calibri"/>
              </a:defRPr>
            </a:pPr>
            <a:r>
              <a:t>LAYER 1: AGENTIC CORE &amp; REASONING ENGINE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Dynamic Evidence Specification Planner • Gap Auditor &amp; Completeness Scorer (0-100%) • Zero-Hallucination Gatekeeper • Deliberator &amp; Confidence Calibration</a:t>
            </a:r>
          </a:p>
          <a:p>
            <a:r>
              <a:rPr sz="1200" b="1">
                <a:solidFill>
                  <a:srgbClr val="1E293B"/>
                </a:solidFill>
                <a:latin typeface="Calibri"/>
              </a:rPr>
              <a:t>Tech Stack: </a:t>
            </a:r>
            <a:r>
              <a:rPr sz="1200">
                <a:solidFill>
                  <a:srgbClr val="4F46E5"/>
                </a:solidFill>
                <a:latin typeface="Calibri"/>
              </a:rPr>
              <a:t>Python 3.13 • Pydantic v2 Type-Safe Contracts • Groq Llama 3.3 70B / Gemini 1.5 Pro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024128" y="4206240"/>
            <a:ext cx="16239744" cy="1572768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0" rIns="365760" tIns="182880" wrap="square"/>
          <a:lstStyle/>
          <a:p>
            <a:pPr algn="ctr">
              <a:spcAft>
                <a:spcPts val="300"/>
              </a:spcAft>
              <a:defRPr sz="1600" b="1">
                <a:solidFill>
                  <a:srgbClr val="0D9488"/>
                </a:solidFill>
                <a:latin typeface="Calibri"/>
              </a:defRPr>
            </a:pPr>
            <a:r>
              <a:t>LAYER 2: AUTONOMOUS MULTI-SOURCE ENTERPRISE CONNECTORS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Corporate Google Drive Vault (Indexed PDFs, SOC2, Appraisals) • Mailbox Archive (Gmail / M365 Exchange Threads) • ERP Financial Ledger (NetSuite / SAP GL Balances) • Regulatory Registries (D&amp;B, OFAC, SOS)</a:t>
            </a:r>
          </a:p>
          <a:p>
            <a:r>
              <a:rPr sz="1200" b="1">
                <a:solidFill>
                  <a:srgbClr val="1E293B"/>
                </a:solidFill>
                <a:latin typeface="Calibri"/>
              </a:rPr>
              <a:t>Tech Stack: </a:t>
            </a:r>
            <a:r>
              <a:rPr sz="1200">
                <a:solidFill>
                  <a:srgbClr val="0D9488"/>
                </a:solidFill>
                <a:latin typeface="Calibri"/>
              </a:rPr>
              <a:t>Vector Embeddings • Fuzzy Matcher • REST APIs • Pluggable BaseConnector Abstraction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024128" y="5943600"/>
            <a:ext cx="16239744" cy="1572768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0" rIns="365760" tIns="182880" wrap="square"/>
          <a:lstStyle/>
          <a:p>
            <a:pPr algn="ctr">
              <a:spcAft>
                <a:spcPts val="300"/>
              </a:spcAft>
              <a:defRPr sz="1600" b="1">
                <a:solidFill>
                  <a:srgbClr val="D97706"/>
                </a:solidFill>
                <a:latin typeface="Calibri"/>
              </a:defRPr>
            </a:pPr>
            <a:r>
              <a:t>LAYER 3: PRECISION HUMAN-IN-THE-LOOP &amp; ACTION DISPATCHERS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Precision Micro-Ask Engine (Role-Targeted Asks) • Interactive Slack &amp; Email Cards with 1-Click Approval • Downstream Action Execution (PO Generation, Claim Remittance EDI-835, Term Sheet)</a:t>
            </a:r>
          </a:p>
          <a:p>
            <a:r>
              <a:rPr sz="1200" b="1">
                <a:solidFill>
                  <a:srgbClr val="1E293B"/>
                </a:solidFill>
                <a:latin typeface="Calibri"/>
              </a:rPr>
              <a:t>Tech Stack: </a:t>
            </a:r>
            <a:r>
              <a:rPr sz="1200">
                <a:solidFill>
                  <a:srgbClr val="D97706"/>
                </a:solidFill>
                <a:latin typeface="Calibri"/>
              </a:rPr>
              <a:t>Slack Webhooks • Action Dispatcher Subsystem • SHA-256 Chain-of-Custody Audit Ledger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1024128" y="7680960"/>
            <a:ext cx="16239744" cy="15727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0" rIns="365760" tIns="182880" wrap="square"/>
          <a:lstStyle/>
          <a:p>
            <a:pPr algn="ctr">
              <a:spcAft>
                <a:spcPts val="3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LAYER 4: VISUAL DECISION STUDIO &amp; CLOUD ORCHESTRATION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Dark-Mode Visual Studio UI • 8-Step Interactive Pipeline Stepper • Turbo (&lt;50ms) &amp; Animated Execution Modes • Continuous Meta-Learning &amp; Process Mining Dashboard</a:t>
            </a:r>
          </a:p>
          <a:p>
            <a:r>
              <a:rPr sz="1200" b="1">
                <a:solidFill>
                  <a:srgbClr val="1E293B"/>
                </a:solidFill>
                <a:latin typeface="Calibri"/>
              </a:rPr>
              <a:t>Tech Stack: </a:t>
            </a:r>
            <a:r>
              <a:rPr sz="1200">
                <a:solidFill>
                  <a:srgbClr val="0F172A"/>
                </a:solidFill>
                <a:latin typeface="Calibri"/>
              </a:rPr>
              <a:t>FastAPI / Flask Single-Roundtrip API • Tailwind CSS • n8n Workflow (`decision_completeness.json`) • Cloudflare Live Tunnel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40" name="Google Shape;140;p4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TextBox 140"/>
          <p:cNvSpPr txBox="1"/>
          <p:nvPr/>
        </p:nvSpPr>
        <p:spPr>
          <a:xfrm>
            <a:off x="1024128" y="841248"/>
            <a:ext cx="13222224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>
                <a:solidFill>
                  <a:srgbClr val="5DE0E6"/>
                </a:solidFill>
                <a:latin typeface="Times"/>
              </a:defRPr>
            </a:pPr>
            <a:r>
              <a:t>System Architecture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024128" y="2468880"/>
            <a:ext cx="16239744" cy="6949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/>
          <a:lstStyle/>
          <a:p>
            <a:pPr algn="ctr">
              <a:defRPr sz="1700" b="1">
                <a:solidFill>
                  <a:srgbClr val="0F172A"/>
                </a:solidFill>
                <a:latin typeface="Calibri"/>
              </a:defRPr>
            </a:pPr>
            <a:r>
              <a:t>AUTONOMOUS MULTI-AGENT DECISION PIPELINE &amp; FEEDBACK LOOP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280160" y="3108960"/>
            <a:ext cx="2423160" cy="1691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Step 1</a:t>
            </a:r>
            <a:br/>
            <a:r>
              <a:t>INTAKE</a:t>
            </a:r>
          </a:p>
          <a:p>
            <a:pPr algn="ctr">
              <a:defRPr sz="1200">
                <a:solidFill>
                  <a:srgbClr val="334155"/>
                </a:solidFill>
                <a:latin typeface="Calibri"/>
              </a:defRPr>
            </a:pPr>
            <a:r>
              <a:t>Request Arrives</a:t>
            </a:r>
            <a:br/>
            <a:r>
              <a:t>(Form / Email / API)</a:t>
            </a:r>
          </a:p>
        </p:txBody>
      </p:sp>
      <p:sp>
        <p:nvSpPr>
          <p:cNvPr id="144" name="Right Arrow 143"/>
          <p:cNvSpPr/>
          <p:nvPr/>
        </p:nvSpPr>
        <p:spPr>
          <a:xfrm>
            <a:off x="3794760" y="3794760"/>
            <a:ext cx="502920" cy="32004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4389120" y="3108960"/>
            <a:ext cx="2423160" cy="16916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4F46E5"/>
                </a:solidFill>
                <a:latin typeface="Calibri"/>
              </a:defRPr>
            </a:pPr>
            <a:r>
              <a:t>Step 2</a:t>
            </a:r>
            <a:br/>
            <a:r>
              <a:t>PLANNER</a:t>
            </a:r>
          </a:p>
          <a:p>
            <a:pPr algn="ctr">
              <a:defRPr sz="1200">
                <a:solidFill>
                  <a:srgbClr val="334155"/>
                </a:solidFill>
                <a:latin typeface="Calibri"/>
              </a:defRPr>
            </a:pPr>
            <a:r>
              <a:t>Dynamic Spec</a:t>
            </a:r>
            <a:br/>
            <a:r>
              <a:t>Inference (Pydantic)</a:t>
            </a:r>
          </a:p>
        </p:txBody>
      </p:sp>
      <p:sp>
        <p:nvSpPr>
          <p:cNvPr id="146" name="Right Arrow 145"/>
          <p:cNvSpPr/>
          <p:nvPr/>
        </p:nvSpPr>
        <p:spPr>
          <a:xfrm>
            <a:off x="6903720" y="3794760"/>
            <a:ext cx="502920" cy="32004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7498080" y="3108960"/>
            <a:ext cx="2423160" cy="16916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DC2626"/>
                </a:solidFill>
                <a:latin typeface="Calibri"/>
              </a:defRPr>
            </a:pPr>
            <a:r>
              <a:t>Step 3 &amp; 4</a:t>
            </a:r>
            <a:br/>
            <a:r>
              <a:t>AUDITOR</a:t>
            </a:r>
          </a:p>
          <a:p>
            <a:pPr algn="ctr">
              <a:defRPr sz="1200">
                <a:solidFill>
                  <a:srgbClr val="334155"/>
                </a:solidFill>
                <a:latin typeface="Calibri"/>
              </a:defRPr>
            </a:pPr>
            <a:r>
              <a:t>Gap Audit &amp;</a:t>
            </a:r>
            <a:br/>
            <a:r>
              <a:t>Gatekeeper Block</a:t>
            </a:r>
          </a:p>
        </p:txBody>
      </p:sp>
      <p:sp>
        <p:nvSpPr>
          <p:cNvPr id="148" name="Right Arrow 147"/>
          <p:cNvSpPr/>
          <p:nvPr/>
        </p:nvSpPr>
        <p:spPr>
          <a:xfrm>
            <a:off x="10012680" y="3794760"/>
            <a:ext cx="502920" cy="32004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10607040" y="3108960"/>
            <a:ext cx="2423160" cy="16916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0D9488"/>
                </a:solidFill>
                <a:latin typeface="Calibri"/>
              </a:defRPr>
            </a:pPr>
            <a:r>
              <a:t>Step 5</a:t>
            </a:r>
            <a:br/>
            <a:r>
              <a:t>RETRIEVER</a:t>
            </a:r>
          </a:p>
          <a:p>
            <a:pPr algn="ctr">
              <a:defRPr sz="1200">
                <a:solidFill>
                  <a:srgbClr val="334155"/>
                </a:solidFill>
                <a:latin typeface="Calibri"/>
              </a:defRPr>
            </a:pPr>
            <a:r>
              <a:t>Autonomous Search</a:t>
            </a:r>
            <a:br/>
            <a:r>
              <a:t>(Drive/Mail/ERP)</a:t>
            </a:r>
          </a:p>
        </p:txBody>
      </p:sp>
      <p:sp>
        <p:nvSpPr>
          <p:cNvPr id="150" name="Right Arrow 149"/>
          <p:cNvSpPr/>
          <p:nvPr/>
        </p:nvSpPr>
        <p:spPr>
          <a:xfrm>
            <a:off x="13121640" y="3794760"/>
            <a:ext cx="502920" cy="32004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13716000" y="3108960"/>
            <a:ext cx="2423160" cy="16916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D97706"/>
                </a:solidFill>
                <a:latin typeface="Calibri"/>
              </a:defRPr>
            </a:pPr>
            <a:r>
              <a:t>Step 6</a:t>
            </a:r>
            <a:br/>
            <a:r>
              <a:t>HITL MICRO-ASK</a:t>
            </a:r>
          </a:p>
          <a:p>
            <a:pPr algn="ctr">
              <a:defRPr sz="1200">
                <a:solidFill>
                  <a:srgbClr val="334155"/>
                </a:solidFill>
                <a:latin typeface="Calibri"/>
              </a:defRPr>
            </a:pPr>
            <a:r>
              <a:t>Targeted 1-Click</a:t>
            </a:r>
            <a:br/>
            <a:r>
              <a:t>Slack Approval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280160" y="5120640"/>
            <a:ext cx="9875520" cy="21031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228600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16A34A"/>
                </a:solidFill>
                <a:latin typeface="Calibri"/>
              </a:defRPr>
            </a:pPr>
            <a:r>
              <a:t>Step 7: DELIBERATION, CONFIDENCE SCORING &amp; EXECUTION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✓ Calibrated Verdict: </a:t>
            </a:r>
            <a:r>
              <a:rPr sz="1200">
                <a:solidFill>
                  <a:srgbClr val="334155"/>
                </a:solidFill>
                <a:latin typeface="Calibri"/>
              </a:rPr>
              <a:t>Computes evidence-grounded confidence (e.g. 97%) and generates citation-backed explanation.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✓ Automated Actions: </a:t>
            </a:r>
            <a:r>
              <a:rPr sz="1200">
                <a:solidFill>
                  <a:srgbClr val="334155"/>
                </a:solidFill>
                <a:latin typeface="Calibri"/>
              </a:rPr>
              <a:t>Generates Purchase Order PO-88421, updates NetSuite ERP, and dispatches Slack notifications.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✓ Proof of Compliance: </a:t>
            </a:r>
            <a:r>
              <a:rPr sz="1200">
                <a:solidFill>
                  <a:srgbClr val="334155"/>
                </a:solidFill>
                <a:latin typeface="Calibri"/>
              </a:rPr>
              <a:t>Commits SHA-256 cryptographic chain-of-custody audit log for zero-tamper auditability.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11521440" y="5120640"/>
            <a:ext cx="5394960" cy="21031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4F46E5"/>
                </a:solidFill>
                <a:latin typeface="Calibri"/>
              </a:defRPr>
            </a:pPr>
            <a:r>
              <a:t>Step 8: META-LEARNING ENGINE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0F172A"/>
                </a:solidFill>
                <a:latin typeface="Calibri"/>
              </a:rPr>
              <a:t>• Telemetry Mining: </a:t>
            </a:r>
            <a:r>
              <a:rPr sz="1150">
                <a:solidFill>
                  <a:srgbClr val="334155"/>
                </a:solidFill>
                <a:latin typeface="Calibri"/>
              </a:rPr>
              <a:t>Aggregates recurring missing evidence patterns across all past decisions.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0F172A"/>
                </a:solidFill>
                <a:latin typeface="Calibri"/>
              </a:rPr>
              <a:t>• Intake Optimization: </a:t>
            </a:r>
            <a:r>
              <a:rPr sz="1150">
                <a:solidFill>
                  <a:srgbClr val="334155"/>
                </a:solidFill>
                <a:latin typeface="Calibri"/>
              </a:rPr>
              <a:t>Suggests: '70% of delays are missing budget sign-off. Add budget check at intake form.'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0F172A"/>
                </a:solidFill>
                <a:latin typeface="Calibri"/>
              </a:rPr>
              <a:t>• Continuous ROI: </a:t>
            </a:r>
            <a:r>
              <a:rPr sz="1150">
                <a:solidFill>
                  <a:srgbClr val="334155"/>
                </a:solidFill>
                <a:latin typeface="Calibri"/>
              </a:rPr>
              <a:t>Turns organizational decision bottlenecks into permanent process upgrades.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1280160" y="7498079"/>
            <a:ext cx="15636240" cy="13716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ctr">
              <a:spcAft>
                <a:spcPts val="200"/>
              </a:spcAft>
              <a:defRPr sz="1300" b="1">
                <a:solidFill>
                  <a:srgbClr val="5DE0E6"/>
                </a:solidFill>
                <a:latin typeface="Calibri"/>
              </a:defRPr>
            </a:pPr>
            <a:r>
              <a:t>ENTERPRISE SECURITY &amp; COMPLIANCE ARCHITECTURE</a:t>
            </a:r>
          </a:p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t>• Zero Data Retention Covenant • SOC2 Type II Encrypted Connectors • Least-Privilege Role-Based Access Control (RBAC) • SHA-256 Cryptographic Audit Ledger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46" name="Google Shape;146;p5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5"/>
          <p:cNvSpPr txBox="1"/>
          <p:nvPr/>
        </p:nvSpPr>
        <p:spPr>
          <a:xfrm>
            <a:off x="1028700" y="838200"/>
            <a:ext cx="13222815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78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Data Flow Diagram</a:t>
            </a:r>
            <a:endParaRPr/>
          </a:p>
        </p:txBody>
      </p:sp>
      <p:sp>
        <p:nvSpPr>
          <p:cNvPr id="148" name="Rounded Rectangle 147"/>
          <p:cNvSpPr/>
          <p:nvPr/>
        </p:nvSpPr>
        <p:spPr>
          <a:xfrm>
            <a:off x="1024128" y="2468880"/>
            <a:ext cx="16239744" cy="6949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0"/>
          <a:lstStyle/>
          <a:p>
            <a:pPr algn="ctr">
              <a:defRPr sz="1700" b="1">
                <a:solidFill>
                  <a:srgbClr val="0F172A"/>
                </a:solidFill>
                <a:latin typeface="Calibri"/>
              </a:defRPr>
            </a:pPr>
            <a:r>
              <a:t>DATA FLOW DIAGRAM (DFD LEVEL-1): EVIDENCE COMPLETENESS LIFECYCLE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80160" y="3291840"/>
            <a:ext cx="2743200" cy="13716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EXTERNAL ENTITY</a:t>
            </a:r>
            <a:br/>
            <a:r>
              <a:t>Requester / Webhook</a:t>
            </a:r>
          </a:p>
        </p:txBody>
      </p:sp>
      <p:sp>
        <p:nvSpPr>
          <p:cNvPr id="150" name="Right Arrow 149"/>
          <p:cNvSpPr/>
          <p:nvPr/>
        </p:nvSpPr>
        <p:spPr>
          <a:xfrm>
            <a:off x="4114800" y="3794760"/>
            <a:ext cx="548640" cy="36576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4754880" y="3108960"/>
            <a:ext cx="3108960" cy="17373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F46E5"/>
                </a:solidFill>
                <a:latin typeface="Calibri"/>
              </a:defRPr>
            </a:pPr>
            <a:r>
              <a:t>Process 1.0</a:t>
            </a:r>
            <a:br/>
            <a:r>
              <a:t>EVIDENCE SPEC PLANNER</a:t>
            </a:r>
            <a:br/>
            <a:r>
              <a:t>(Infers Required Spec Items)</a:t>
            </a:r>
          </a:p>
        </p:txBody>
      </p:sp>
      <p:sp>
        <p:nvSpPr>
          <p:cNvPr id="152" name="Right Arrow 151"/>
          <p:cNvSpPr/>
          <p:nvPr/>
        </p:nvSpPr>
        <p:spPr>
          <a:xfrm>
            <a:off x="7955279" y="3794760"/>
            <a:ext cx="548640" cy="36576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8595360" y="3108960"/>
            <a:ext cx="3291840" cy="17373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Calibri"/>
              </a:defRPr>
            </a:pPr>
            <a:r>
              <a:t>Process 2.0</a:t>
            </a:r>
            <a:br/>
            <a:r>
              <a:t>ZERO-HALLUCINATION GATE</a:t>
            </a:r>
            <a:br/>
            <a:r>
              <a:t>(Cross-checks Gaps &amp; Blocks)</a:t>
            </a:r>
          </a:p>
        </p:txBody>
      </p:sp>
      <p:sp>
        <p:nvSpPr>
          <p:cNvPr id="154" name="Right Arrow 153"/>
          <p:cNvSpPr/>
          <p:nvPr/>
        </p:nvSpPr>
        <p:spPr>
          <a:xfrm>
            <a:off x="11978640" y="3794760"/>
            <a:ext cx="548640" cy="365760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12618720" y="3108960"/>
            <a:ext cx="4114800" cy="17373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A34A"/>
                </a:solidFill>
                <a:latin typeface="Calibri"/>
              </a:defRPr>
            </a:pPr>
            <a:r>
              <a:t>Process 5.0</a:t>
            </a:r>
            <a:br/>
            <a:r>
              <a:t>DELIBERATION &amp; ACTION DISPATCH</a:t>
            </a:r>
            <a:br/>
            <a:r>
              <a:t>(Approved • PO Created • Ledger Committed)</a:t>
            </a:r>
          </a:p>
        </p:txBody>
      </p:sp>
      <p:sp>
        <p:nvSpPr>
          <p:cNvPr id="156" name="Down Arrow 155"/>
          <p:cNvSpPr/>
          <p:nvPr/>
        </p:nvSpPr>
        <p:spPr>
          <a:xfrm>
            <a:off x="10058400" y="4937760"/>
            <a:ext cx="365760" cy="457200"/>
          </a:xfrm>
          <a:prstGeom prst="down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7772400" y="5486400"/>
            <a:ext cx="4937760" cy="173736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0D9488"/>
                </a:solidFill>
                <a:latin typeface="Calibri"/>
              </a:defRPr>
            </a:pPr>
            <a:r>
              <a:t>Process 3.0: AUTONOMOUS SELF-HEALING RETRIEVAL</a:t>
            </a:r>
          </a:p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• D1: Google Drive Vault (Indexed PDFs, SOC2, Appraisals)</a:t>
            </a:r>
          </a:p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• D2: Corporate Mailbox (Gmail / M365 Exchange Threads)</a:t>
            </a:r>
          </a:p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• D3: NetSuite ERP Ledger (Vendor Reliability &amp; Financials)</a:t>
            </a:r>
          </a:p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• D4: External Registries (D&amp;B, OFAC Sanctions, SEC Edgar)</a:t>
            </a:r>
          </a:p>
        </p:txBody>
      </p:sp>
      <p:sp>
        <p:nvSpPr>
          <p:cNvPr id="158" name="Left Arrow 157"/>
          <p:cNvSpPr/>
          <p:nvPr/>
        </p:nvSpPr>
        <p:spPr>
          <a:xfrm>
            <a:off x="7132320" y="6217920"/>
            <a:ext cx="548640" cy="365760"/>
          </a:xfrm>
          <a:prstGeom prst="lef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1280160" y="5486400"/>
            <a:ext cx="5760720" cy="17373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 wrap="square"/>
          <a:lstStyle/>
          <a:p>
            <a:pPr algn="ctr">
              <a:spcAft>
                <a:spcPts val="300"/>
              </a:spcAft>
              <a:defRPr sz="1300" b="1">
                <a:solidFill>
                  <a:srgbClr val="D97706"/>
                </a:solidFill>
                <a:latin typeface="Calibri"/>
              </a:defRPr>
            </a:pPr>
            <a:r>
              <a:t>Process 4.0: PRECISION HITL MICRO-REQUEST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• Identifies EXACT missing item (e.g. Budget Sign-Off from VP Finance)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• Dispatches targeted Slack card with 1-click Approve/Reject button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• Takes 15 seconds instead of traditional 30-minute review cycles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1280160" y="7498079"/>
            <a:ext cx="15453359" cy="1463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ctr">
              <a:spcAft>
                <a:spcPts val="200"/>
              </a:spcAft>
              <a:defRPr sz="1400" b="1">
                <a:solidFill>
                  <a:srgbClr val="5DE0E6"/>
                </a:solidFill>
                <a:latin typeface="Calibri"/>
              </a:defRPr>
            </a:pPr>
            <a:r>
              <a:t>Process 6.0: TELEMETRY MINING &amp; CONTINUOUS PROCESS OPTIMIZATION</a:t>
            </a:r>
          </a:p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t>Every blocked gate, retrieved document, and human micro-interaction is logged. Telemetry detects organizational patterns (e.g. '70% of delays are missing budget sign-off') and proposes automatic intake form redesign to prevent future blocks.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53" name="Google Shape;153;p6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6"/>
          <p:cNvSpPr txBox="1"/>
          <p:nvPr/>
        </p:nvSpPr>
        <p:spPr>
          <a:xfrm>
            <a:off x="1028700" y="866775"/>
            <a:ext cx="10751308" cy="1393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13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Screenshot of Your Project</a:t>
            </a:r>
            <a:endParaRPr/>
          </a:p>
        </p:txBody>
      </p:sp>
      <p:sp>
        <p:nvSpPr>
          <p:cNvPr id="155" name="Rounded Rectangle 154"/>
          <p:cNvSpPr/>
          <p:nvPr/>
        </p:nvSpPr>
        <p:spPr>
          <a:xfrm>
            <a:off x="1024128" y="2331720"/>
            <a:ext cx="16239744" cy="5943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400" b="1">
                <a:solidFill>
                  <a:srgbClr val="4F46E5"/>
                </a:solidFill>
                <a:latin typeface="Calibri"/>
              </a:rPr>
              <a:t>🌐 LIVE CLOUD APPLICATION: </a:t>
            </a:r>
            <a:r>
              <a:rPr sz="1400" b="1">
                <a:solidFill>
                  <a:srgbClr val="0F172A"/>
                </a:solidFill>
                <a:latin typeface="Calibri"/>
              </a:rPr>
              <a:t>https://static-outstanding-palm-clarke.trycloudflare.com  [⚡ Fast &lt;50ms | 8 Domains | Zero Hallucination]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1024128" y="3063240"/>
            <a:ext cx="16239744" cy="6309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1024128" y="3063240"/>
            <a:ext cx="16239744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1200">
                <a:solidFill>
                  <a:srgbClr val="E2E8F0"/>
                </a:solidFill>
                <a:latin typeface="Calibri"/>
              </a:defRPr>
            </a:pPr>
            <a:r>
              <a:t>🔴 🟡 🟢   https://static-outstanding-palm-clarke.trycloudflare.com  —  Decision Completeness Engine Visual Studio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1188720" y="3703320"/>
            <a:ext cx="15910559" cy="685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4F46E5"/>
                </a:solidFill>
                <a:latin typeface="Calibri"/>
              </a:defRPr>
            </a:pPr>
            <a:r>
              <a:t>[01 Intake ✓]  ➜  [02 Plan ✓]  ➜  [03 Audit ✓]  ➜  [04 Gate Block ⛔]  ➜  [05 Self-Heal ✨]  ➜  [06 HITL 👤]  ➜  [07 Verdict 🎯]  ➜  [08 Learn 📊]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188720" y="4526280"/>
            <a:ext cx="77724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EVIDENCE SPECIFICATION MATRIX (LIVE DOSSIER)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Competitive Price Benchmark
</a:t>
            </a:r>
            <a:r>
              <a:rPr sz="1050" b="1">
                <a:solidFill>
                  <a:srgbClr val="16A34A"/>
                </a:solidFill>
                <a:latin typeface="Calibri"/>
              </a:rPr>
              <a:t>  [VERIFIED (95%)] — Direct vendor quotation comparison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Delivery Timeline SLA Commitment
</a:t>
            </a:r>
            <a:r>
              <a:rPr sz="1050" b="1">
                <a:solidFill>
                  <a:srgbClr val="16A34A"/>
                </a:solidFill>
                <a:latin typeface="Calibri"/>
              </a:rPr>
              <a:t>  [VERIFIED (92%)] — 14-day turnaround SLA verified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SOC2 Type II Security Certificate
</a:t>
            </a:r>
            <a:r>
              <a:rPr sz="1050" b="1">
                <a:solidFill>
                  <a:srgbClr val="0D9488"/>
                </a:solidFill>
                <a:latin typeface="Calibri"/>
              </a:rPr>
              <a:t>  [✨ SELF-HEALED] — Retrieved from Corporate Drive Vault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Past Delivery Track Record (98%)
</a:t>
            </a:r>
            <a:r>
              <a:rPr sz="1050" b="1">
                <a:solidFill>
                  <a:srgbClr val="0D9488"/>
                </a:solidFill>
                <a:latin typeface="Calibri"/>
              </a:rPr>
              <a:t>  [✨ SELF-HEALED] — Retrieved from NetSuite ERP Ledger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Budget Sign-Off (VP Finance)
</a:t>
            </a:r>
            <a:r>
              <a:rPr sz="1050" b="1">
                <a:solidFill>
                  <a:srgbClr val="D97706"/>
                </a:solidFill>
                <a:latin typeface="Calibri"/>
              </a:rPr>
              <a:t>  [👤 HITL SIGNED] — Approved in 15s via targeted Slack card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9235440" y="4526280"/>
            <a:ext cx="78638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16A34A"/>
                </a:solidFill>
                <a:latin typeface="Calibri"/>
              </a:defRPr>
            </a:pPr>
            <a:r>
              <a:t>GATEKEEPER VERDICT &amp; DOWNSTREAM ACTIONS</a:t>
            </a:r>
          </a:p>
          <a:p>
            <a:pPr>
              <a:spcAft>
                <a:spcPts val="10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Completeness Score: 100% (All Critical Requirements Met)</a:t>
            </a:r>
            <a:br/>
            <a:r>
              <a:t>Verdict: APPROVED  |  Confidence Score: 97%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⚡ Action 1: ERP Purchase Order Dispatched
</a:t>
            </a:r>
            <a:r>
              <a:rPr sz="1050">
                <a:solidFill>
                  <a:srgbClr val="334155"/>
                </a:solidFill>
                <a:latin typeface="Calibri"/>
              </a:rPr>
              <a:t>  PO #PO-88421 committed to NetSuite with line-item schedule.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💬 Action 2: Precision Slack Alert Sent
</a:t>
            </a:r>
            <a:r>
              <a:rPr sz="1050">
                <a:solidFill>
                  <a:srgbClr val="334155"/>
                </a:solidFill>
                <a:latin typeface="Calibri"/>
              </a:rPr>
              <a:t>  Requester and procurement channel notified in real-time.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🔒 Action 3: Cryptographic Audit Ledger
</a:t>
            </a:r>
            <a:r>
              <a:rPr sz="1050">
                <a:solidFill>
                  <a:srgbClr val="334155"/>
                </a:solidFill>
                <a:latin typeface="Calibri"/>
              </a:rPr>
              <a:t>  SHA-256 chain-of-custody hash committed: `0x7f8a9...b34c`.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60" name="Google Shape;160;p7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7"/>
          <p:cNvSpPr txBox="1"/>
          <p:nvPr/>
        </p:nvSpPr>
        <p:spPr>
          <a:xfrm>
            <a:off x="1028700" y="866775"/>
            <a:ext cx="5533771" cy="1393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13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Others</a:t>
            </a:r>
            <a:endParaRPr/>
          </a:p>
        </p:txBody>
      </p:sp>
      <p:sp>
        <p:nvSpPr>
          <p:cNvPr id="162" name="Rounded Rectangle 161"/>
          <p:cNvSpPr/>
          <p:nvPr/>
        </p:nvSpPr>
        <p:spPr>
          <a:xfrm>
            <a:off x="1024128" y="2468880"/>
            <a:ext cx="5166360" cy="6949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4F46E5"/>
                </a:solidFill>
                <a:latin typeface="Calibri"/>
              </a:defRPr>
            </a:pPr>
            <a:r>
              <a:t>8 ENTERPRISE DOMAINS (READY-TO-DEMO)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1. Hardware Procurement: </a:t>
            </a:r>
            <a:r>
              <a:rPr sz="1050">
                <a:solidFill>
                  <a:srgbClr val="334155"/>
                </a:solidFill>
                <a:latin typeface="Calibri"/>
              </a:rPr>
              <a:t>$85k Laptops • Recovers SOC2; asks VP.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2. Commercial Lending: </a:t>
            </a:r>
            <a:r>
              <a:rPr sz="1050">
                <a:solidFill>
                  <a:srgbClr val="334155"/>
                </a:solidFill>
                <a:latin typeface="Calibri"/>
              </a:rPr>
              <a:t>$250k Apex Revolving • Recovers Form 1120-S.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3. Executive Hiring: </a:t>
            </a:r>
            <a:r>
              <a:rPr sz="1050">
                <a:solidFill>
                  <a:srgbClr val="334155"/>
                </a:solidFill>
                <a:latin typeface="Calibri"/>
              </a:rPr>
              <a:t>VP Eng Offer • Recovers Sterling &amp; references.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4. Healthcare Claims: </a:t>
            </a:r>
            <a:r>
              <a:rPr sz="1050">
                <a:solidFill>
                  <a:srgbClr val="334155"/>
                </a:solidFill>
                <a:latin typeface="Calibri"/>
              </a:rPr>
              <a:t>$42k Knee Surgery • Recovers op notes &amp; auth.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5. Corporate Expense: </a:t>
            </a:r>
            <a:r>
              <a:rPr sz="1050">
                <a:solidFill>
                  <a:srgbClr val="334155"/>
                </a:solidFill>
                <a:latin typeface="Calibri"/>
              </a:rPr>
              <a:t>$14.2k Zurich Dinner • Recovers itemized folio.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6. Legal SaaS Contract: </a:t>
            </a:r>
            <a:r>
              <a:rPr sz="1050">
                <a:solidFill>
                  <a:srgbClr val="334155"/>
                </a:solidFill>
                <a:latin typeface="Calibri"/>
              </a:rPr>
              <a:t>VectorFlow AI • Recovers DPA &amp; covenants.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7. Cloud Firewall Exemption: </a:t>
            </a:r>
            <a:r>
              <a:rPr sz="1050">
                <a:solidFill>
                  <a:srgbClr val="334155"/>
                </a:solidFill>
                <a:latin typeface="Calibri"/>
              </a:rPr>
              <a:t>Port 9443 Ingress • Recovers partner mTLS cert.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8. Jumbo Real Estate Mortgage: </a:t>
            </a:r>
            <a:r>
              <a:rPr sz="1050">
                <a:solidFill>
                  <a:srgbClr val="334155"/>
                </a:solidFill>
                <a:latin typeface="Calibri"/>
              </a:rPr>
              <a:t>$850k Loan • Recovers $1.15M appraisal &amp; W-2s.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6556248" y="2468880"/>
            <a:ext cx="5166360" cy="6949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0D9488"/>
                </a:solidFill>
                <a:latin typeface="Calibri"/>
              </a:defRPr>
            </a:pPr>
            <a:r>
              <a:t>QUANTIFIABLE BUSINESS VALUE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D9488"/>
                </a:solidFill>
                <a:latin typeface="Calibri"/>
              </a:rPr>
              <a:t>90% Turnaround Reduction
</a:t>
            </a:r>
            <a:r>
              <a:rPr sz="1100">
                <a:solidFill>
                  <a:srgbClr val="334155"/>
                </a:solidFill>
                <a:latin typeface="Calibri"/>
              </a:rPr>
              <a:t>Drops average approval cycles from 2.5 days down to seconds.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DC2626"/>
                </a:solidFill>
                <a:latin typeface="Calibri"/>
              </a:rPr>
              <a:t>0% Hallucination Rate
</a:t>
            </a:r>
            <a:r>
              <a:rPr sz="1100">
                <a:solidFill>
                  <a:srgbClr val="334155"/>
                </a:solidFill>
                <a:latin typeface="Calibri"/>
              </a:rPr>
              <a:t>Zero speculation: strictly halts AI from guessing when data is incomplete.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D97706"/>
                </a:solidFill>
                <a:latin typeface="Calibri"/>
              </a:rPr>
              <a:t>15s Human Micro-Ask
</a:t>
            </a:r>
            <a:r>
              <a:rPr sz="1100">
                <a:solidFill>
                  <a:srgbClr val="334155"/>
                </a:solidFill>
                <a:latin typeface="Calibri"/>
              </a:rPr>
              <a:t>Executives never read 40 pages; they answer a 1-click micro-question.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6A34A"/>
                </a:solidFill>
                <a:latin typeface="Calibri"/>
              </a:rPr>
              <a:t>88% Autonomous Healing
</a:t>
            </a:r>
            <a:r>
              <a:rPr sz="1100">
                <a:solidFill>
                  <a:srgbClr val="334155"/>
                </a:solidFill>
                <a:latin typeface="Calibri"/>
              </a:rPr>
              <a:t>Self-heals gaps by searching Drive, Email, and ERP ledgers.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12088368" y="2468880"/>
            <a:ext cx="5166360" cy="6949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PRODUCTION DELIVERABLES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📦 Importable n8n Workflow
</a:t>
            </a:r>
            <a:r>
              <a:rPr sz="1100">
                <a:solidFill>
                  <a:srgbClr val="334155"/>
                </a:solidFill>
                <a:latin typeface="Calibri"/>
              </a:rPr>
              <a:t>Full production JSON workflow with AI Agent, Tool &amp; Webhook nodes (`decision_completeness_engine.json`).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🧪 Automated Test Suite
</a:t>
            </a:r>
            <a:r>
              <a:rPr sz="1100">
                <a:solidFill>
                  <a:srgbClr val="334155"/>
                </a:solidFill>
                <a:latin typeface="Calibri"/>
              </a:rPr>
              <a:t>9/9 passing unit &amp; integration tests (`python -m unittest tests/test_engine.py`).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☁️ Multi-Cloud Deployment
</a:t>
            </a:r>
            <a:r>
              <a:rPr sz="1100">
                <a:solidFill>
                  <a:srgbClr val="334155"/>
                </a:solidFill>
                <a:latin typeface="Calibri"/>
              </a:rPr>
              <a:t>Dockerfile, Render (render.yaml), Railway (railway.json), and Vercel configuration ready to deploy.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🔒 Cryptographic Audit Proof
</a:t>
            </a:r>
            <a:r>
              <a:rPr sz="1100">
                <a:solidFill>
                  <a:srgbClr val="334155"/>
                </a:solidFill>
                <a:latin typeface="Calibri"/>
              </a:rPr>
              <a:t>SHA-256 chain-of-custody evidence hashing for regulatory compliance and audit readiness.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