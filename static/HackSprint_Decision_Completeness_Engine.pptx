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Playfair Display SemiBold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Rct6WhpjnLYkE824ii1GYaFHa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PlayfairDisplaySemiBold-regular.fntdata"/><Relationship Id="rId14" Type="http://schemas.openxmlformats.org/officeDocument/2006/relationships/font" Target="fonts/PlayfairDisplaySemiBold-bold.fntdata"/><Relationship Id="rId15" Type="http://schemas.openxmlformats.org/officeDocument/2006/relationships/font" Target="fonts/PlayfairDisplaySemiBold-italic.fntdata"/><Relationship Id="rId16" Type="http://schemas.openxmlformats.org/officeDocument/2006/relationships/font" Target="fonts/PlayfairDisplaySemiBold-boldItalic.fntdata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14.png"/><Relationship Id="rId9" Type="http://schemas.openxmlformats.org/officeDocument/2006/relationships/image" Target="../media/image2.png"/><Relationship Id="rId10" Type="http://schemas.openxmlformats.org/officeDocument/2006/relationships/image" Target="../media/image6.png"/><Relationship Id="rId11" Type="http://schemas.openxmlformats.org/officeDocument/2006/relationships/image" Target="../media/image3.png"/><Relationship Id="rId12" Type="http://schemas.openxmlformats.org/officeDocument/2006/relationships/image" Target="../media/image13.png"/><Relationship Id="rId13" Type="http://schemas.openxmlformats.org/officeDocument/2006/relationships/image" Target="../media/image8.png"/><Relationship Id="rId14" Type="http://schemas.openxmlformats.org/officeDocument/2006/relationships/image" Target="../media/image7.png"/><Relationship Id="rId15" Type="http://schemas.openxmlformats.org/officeDocument/2006/relationships/image" Target="../media/image16.png"/><Relationship Id="rId16" Type="http://schemas.openxmlformats.org/officeDocument/2006/relationships/image" Target="../media/image10.png"/><Relationship Id="rId17" Type="http://schemas.openxmlformats.org/officeDocument/2006/relationships/image" Target="../media/image9.png"/><Relationship Id="rId18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274325" y="307375"/>
            <a:ext cx="14692810" cy="1101598"/>
          </a:xfrm>
          <a:custGeom>
            <a:rect b="b" l="l" r="r" t="t"/>
            <a:pathLst>
              <a:path extrusionOk="0" h="1101598" w="14127702">
                <a:moveTo>
                  <a:pt x="0" y="0"/>
                </a:moveTo>
                <a:lnTo>
                  <a:pt x="14127702" y="0"/>
                </a:lnTo>
                <a:lnTo>
                  <a:pt x="14127702" y="1101598"/>
                </a:lnTo>
                <a:lnTo>
                  <a:pt x="0" y="1101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072" l="-953" r="-12923" t="-10072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591320" y="362859"/>
            <a:ext cx="610238" cy="832142"/>
          </a:xfrm>
          <a:custGeom>
            <a:rect b="b" l="l" r="r" t="t"/>
            <a:pathLst>
              <a:path extrusionOk="0" h="832142" w="610238">
                <a:moveTo>
                  <a:pt x="0" y="0"/>
                </a:moveTo>
                <a:lnTo>
                  <a:pt x="610237" y="0"/>
                </a:lnTo>
                <a:lnTo>
                  <a:pt x="610237" y="832142"/>
                </a:lnTo>
                <a:lnTo>
                  <a:pt x="0" y="832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4415789" y="372692"/>
            <a:ext cx="901250" cy="901250"/>
          </a:xfrm>
          <a:custGeom>
            <a:rect b="b" l="l" r="r" t="t"/>
            <a:pathLst>
              <a:path extrusionOk="0" h="901250" w="901250">
                <a:moveTo>
                  <a:pt x="0" y="0"/>
                </a:moveTo>
                <a:lnTo>
                  <a:pt x="901249" y="0"/>
                </a:lnTo>
                <a:lnTo>
                  <a:pt x="901249" y="901249"/>
                </a:lnTo>
                <a:lnTo>
                  <a:pt x="0" y="901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3628758" y="488306"/>
            <a:ext cx="1172861" cy="616220"/>
          </a:xfrm>
          <a:custGeom>
            <a:rect b="b" l="l" r="r" t="t"/>
            <a:pathLst>
              <a:path extrusionOk="0" h="616220" w="1172861">
                <a:moveTo>
                  <a:pt x="0" y="0"/>
                </a:moveTo>
                <a:lnTo>
                  <a:pt x="1172860" y="0"/>
                </a:lnTo>
                <a:lnTo>
                  <a:pt x="1172860" y="616220"/>
                </a:lnTo>
                <a:lnTo>
                  <a:pt x="0" y="6162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5926638" y="538306"/>
            <a:ext cx="1721890" cy="626142"/>
          </a:xfrm>
          <a:custGeom>
            <a:rect b="b" l="l" r="r" t="t"/>
            <a:pathLst>
              <a:path extrusionOk="0" h="626142" w="1721890">
                <a:moveTo>
                  <a:pt x="0" y="0"/>
                </a:moveTo>
                <a:lnTo>
                  <a:pt x="1721890" y="0"/>
                </a:lnTo>
                <a:lnTo>
                  <a:pt x="1721890" y="626142"/>
                </a:lnTo>
                <a:lnTo>
                  <a:pt x="0" y="626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56816" l="-72694" r="-73660" t="-17079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8258128" y="488306"/>
            <a:ext cx="1474047" cy="670021"/>
          </a:xfrm>
          <a:custGeom>
            <a:rect b="b" l="l" r="r" t="t"/>
            <a:pathLst>
              <a:path extrusionOk="0" h="670021" w="1474047">
                <a:moveTo>
                  <a:pt x="0" y="0"/>
                </a:moveTo>
                <a:lnTo>
                  <a:pt x="1474047" y="0"/>
                </a:lnTo>
                <a:lnTo>
                  <a:pt x="1474047" y="670021"/>
                </a:lnTo>
                <a:lnTo>
                  <a:pt x="0" y="670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91756" l="-16057" r="-11397" t="-88646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10341775" y="488306"/>
            <a:ext cx="2677383" cy="585678"/>
          </a:xfrm>
          <a:custGeom>
            <a:rect b="b" l="l" r="r" t="t"/>
            <a:pathLst>
              <a:path extrusionOk="0" h="585678" w="2677383">
                <a:moveTo>
                  <a:pt x="0" y="0"/>
                </a:moveTo>
                <a:lnTo>
                  <a:pt x="2677383" y="0"/>
                </a:lnTo>
                <a:lnTo>
                  <a:pt x="2677383" y="585677"/>
                </a:lnTo>
                <a:lnTo>
                  <a:pt x="0" y="585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2149315" y="481156"/>
            <a:ext cx="1655535" cy="461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2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MANIPAL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149315" y="833903"/>
            <a:ext cx="1655535" cy="30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3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ACADEMY OF HIGHER EDUCATION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2149315" y="1098287"/>
            <a:ext cx="1655535" cy="132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646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Institution of Embrace Diamant in the University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12144375" y="3869391"/>
            <a:ext cx="6143625" cy="6417609"/>
          </a:xfrm>
          <a:custGeom>
            <a:rect b="b" l="l" r="r" t="t"/>
            <a:pathLst>
              <a:path extrusionOk="0" h="6417609" w="6143625">
                <a:moveTo>
                  <a:pt x="0" y="0"/>
                </a:moveTo>
                <a:lnTo>
                  <a:pt x="6143625" y="0"/>
                </a:lnTo>
                <a:lnTo>
                  <a:pt x="6143625" y="6417609"/>
                </a:lnTo>
                <a:lnTo>
                  <a:pt x="0" y="6417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4932" l="0" r="0" t="0"/>
            </a:stretch>
          </a:blipFill>
          <a:ln>
            <a:noFill/>
          </a:ln>
        </p:spPr>
      </p:sp>
      <p:grpSp>
        <p:nvGrpSpPr>
          <p:cNvPr id="97" name="Google Shape;97;p1"/>
          <p:cNvGrpSpPr/>
          <p:nvPr/>
        </p:nvGrpSpPr>
        <p:grpSpPr>
          <a:xfrm>
            <a:off x="1028700" y="1593199"/>
            <a:ext cx="10533832" cy="4930312"/>
            <a:chOff x="0" y="-314325"/>
            <a:chExt cx="12613857" cy="6573749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382399" y="-314325"/>
              <a:ext cx="11904300" cy="33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468" u="none" cap="none" strike="noStrike">
                  <a:solidFill>
                    <a:srgbClr val="5DE0E6"/>
                  </a:solidFill>
                  <a:latin typeface="Times"/>
                  <a:ea typeface="Times"/>
                  <a:cs typeface="Times"/>
                  <a:sym typeface="Times"/>
                </a:rPr>
                <a:t>HackSprint</a:t>
              </a:r>
              <a:endParaRPr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2124439" y="2762951"/>
              <a:ext cx="8394485" cy="1047467"/>
            </a:xfrm>
            <a:custGeom>
              <a:rect b="b" l="l" r="r" t="t"/>
              <a:pathLst>
                <a:path extrusionOk="0" h="1047467" w="8394485">
                  <a:moveTo>
                    <a:pt x="0" y="0"/>
                  </a:moveTo>
                  <a:lnTo>
                    <a:pt x="8394485" y="0"/>
                  </a:lnTo>
                  <a:lnTo>
                    <a:pt x="8394485" y="1047467"/>
                  </a:lnTo>
                  <a:lnTo>
                    <a:pt x="0" y="1047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-1933" r="-1581" t="-18310"/>
              </a:stretch>
            </a:blipFill>
            <a:ln>
              <a:noFill/>
            </a:ln>
          </p:spPr>
        </p:sp>
        <p:sp>
          <p:nvSpPr>
            <p:cNvPr id="100" name="Google Shape;100;p1"/>
            <p:cNvSpPr/>
            <p:nvPr/>
          </p:nvSpPr>
          <p:spPr>
            <a:xfrm>
              <a:off x="0" y="3795665"/>
              <a:ext cx="12613857" cy="2463759"/>
            </a:xfrm>
            <a:custGeom>
              <a:rect b="b" l="l" r="r" t="t"/>
              <a:pathLst>
                <a:path extrusionOk="0" h="2463759" w="12613857">
                  <a:moveTo>
                    <a:pt x="0" y="0"/>
                  </a:moveTo>
                  <a:lnTo>
                    <a:pt x="12613857" y="0"/>
                  </a:lnTo>
                  <a:lnTo>
                    <a:pt x="12613857" y="2463759"/>
                  </a:lnTo>
                  <a:lnTo>
                    <a:pt x="0" y="24637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1" name="Google Shape;101;p1"/>
            <p:cNvSpPr/>
            <p:nvPr/>
          </p:nvSpPr>
          <p:spPr>
            <a:xfrm>
              <a:off x="3083387" y="4400540"/>
              <a:ext cx="575369" cy="1239256"/>
            </a:xfrm>
            <a:custGeom>
              <a:rect b="b" l="l" r="r" t="t"/>
              <a:pathLst>
                <a:path extrusionOk="0" h="1239256" w="575369">
                  <a:moveTo>
                    <a:pt x="0" y="0"/>
                  </a:moveTo>
                  <a:lnTo>
                    <a:pt x="575369" y="0"/>
                  </a:lnTo>
                  <a:lnTo>
                    <a:pt x="575369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2" name="Google Shape;102;p1"/>
            <p:cNvSpPr/>
            <p:nvPr/>
          </p:nvSpPr>
          <p:spPr>
            <a:xfrm>
              <a:off x="8689546" y="4400540"/>
              <a:ext cx="73765" cy="1239256"/>
            </a:xfrm>
            <a:custGeom>
              <a:rect b="b" l="l" r="r" t="t"/>
              <a:pathLst>
                <a:path extrusionOk="0" h="1239256" w="73765">
                  <a:moveTo>
                    <a:pt x="0" y="0"/>
                  </a:moveTo>
                  <a:lnTo>
                    <a:pt x="73765" y="0"/>
                  </a:lnTo>
                  <a:lnTo>
                    <a:pt x="73765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b="0" l="-20000" r="-280000" t="0"/>
              </a:stretch>
            </a:blipFill>
            <a:ln>
              <a:noFill/>
            </a:ln>
          </p:spPr>
        </p:sp>
        <p:sp>
          <p:nvSpPr>
            <p:cNvPr id="103" name="Google Shape;103;p1"/>
            <p:cNvSpPr txBox="1"/>
            <p:nvPr/>
          </p:nvSpPr>
          <p:spPr>
            <a:xfrm>
              <a:off x="2436968" y="2920863"/>
              <a:ext cx="7221300" cy="7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20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24-Hour Hackathon</a:t>
              </a: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865835" y="4393321"/>
              <a:ext cx="2417100" cy="10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938" u="none" cap="none" strike="noStrike">
                  <a:solidFill>
                    <a:srgbClr val="5DE0E6"/>
                  </a:solidFill>
                  <a:latin typeface="Arial"/>
                  <a:ea typeface="Arial"/>
                  <a:cs typeface="Arial"/>
                  <a:sym typeface="Arial"/>
                </a:rPr>
                <a:t>17-18</a:t>
              </a:r>
              <a:endParaRPr/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4400894" y="4940029"/>
              <a:ext cx="3474600" cy="74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44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Manipal Academy of Higher Education (MAHE)</a:t>
              </a:r>
              <a:endParaRPr/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1047112" y="5438889"/>
              <a:ext cx="1389900" cy="3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2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OCTOBER</a:t>
              </a:r>
              <a:endParaRPr/>
            </a:p>
          </p:txBody>
        </p:sp>
        <p:sp>
          <p:nvSpPr>
            <p:cNvPr id="107" name="Google Shape;107;p1"/>
            <p:cNvSpPr txBox="1"/>
            <p:nvPr/>
          </p:nvSpPr>
          <p:spPr>
            <a:xfrm>
              <a:off x="4974964" y="4461918"/>
              <a:ext cx="22962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VENUE DETAILS</a:t>
              </a:r>
              <a:endParaRPr/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10141600" y="4781941"/>
              <a:ext cx="16317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SATURDAY</a:t>
              </a:r>
              <a:endParaRPr/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9416458" y="5168176"/>
              <a:ext cx="24171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09 A.M. Onwards</a:t>
              </a:r>
              <a:endParaRPr/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1166813" y="8715375"/>
            <a:ext cx="14049375" cy="1085850"/>
            <a:chOff x="0" y="0"/>
            <a:chExt cx="18732500" cy="1447800"/>
          </a:xfrm>
        </p:grpSpPr>
        <p:sp>
          <p:nvSpPr>
            <p:cNvPr id="111" name="Google Shape;111;p1"/>
            <p:cNvSpPr/>
            <p:nvPr/>
          </p:nvSpPr>
          <p:spPr>
            <a:xfrm>
              <a:off x="0" y="0"/>
              <a:ext cx="18732500" cy="1447800"/>
            </a:xfrm>
            <a:custGeom>
              <a:rect b="b" l="l" r="r" t="t"/>
              <a:pathLst>
                <a:path extrusionOk="0" h="1447800" w="18732500">
                  <a:moveTo>
                    <a:pt x="0" y="0"/>
                  </a:moveTo>
                  <a:lnTo>
                    <a:pt x="18732500" y="0"/>
                  </a:lnTo>
                  <a:lnTo>
                    <a:pt x="187325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b="-18422" l="-542" r="-1084" t="-9649"/>
              </a:stretch>
            </a:blipFill>
            <a:ln>
              <a:noFill/>
            </a:ln>
          </p:spPr>
        </p:sp>
        <p:sp>
          <p:nvSpPr>
            <p:cNvPr id="112" name="Google Shape;112;p1"/>
            <p:cNvSpPr/>
            <p:nvPr/>
          </p:nvSpPr>
          <p:spPr>
            <a:xfrm>
              <a:off x="10927848" y="480123"/>
              <a:ext cx="2629904" cy="575802"/>
            </a:xfrm>
            <a:custGeom>
              <a:rect b="b" l="l" r="r" t="t"/>
              <a:pathLst>
                <a:path extrusionOk="0" h="575802" w="2629904">
                  <a:moveTo>
                    <a:pt x="0" y="0"/>
                  </a:moveTo>
                  <a:lnTo>
                    <a:pt x="2629904" y="0"/>
                  </a:lnTo>
                  <a:lnTo>
                    <a:pt x="2629904" y="575802"/>
                  </a:lnTo>
                  <a:lnTo>
                    <a:pt x="0" y="5758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3" name="Google Shape;113;p1"/>
            <p:cNvSpPr txBox="1"/>
            <p:nvPr/>
          </p:nvSpPr>
          <p:spPr>
            <a:xfrm>
              <a:off x="1372006" y="226089"/>
              <a:ext cx="1664614" cy="82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4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REGISTER NOW</a:t>
              </a:r>
              <a:endParaRPr/>
            </a:p>
          </p:txBody>
        </p:sp>
        <p:sp>
          <p:nvSpPr>
            <p:cNvPr id="114" name="Google Shape;114;p1"/>
            <p:cNvSpPr txBox="1"/>
            <p:nvPr/>
          </p:nvSpPr>
          <p:spPr>
            <a:xfrm>
              <a:off x="7172147" y="252779"/>
              <a:ext cx="1742643" cy="766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Team Size</a:t>
              </a:r>
              <a:endParaRPr/>
            </a:p>
            <a:p>
              <a:pPr indent="0" lvl="0" marL="0" marR="0" rtl="0" algn="ctr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1-4 Members</a:t>
              </a:r>
              <a:endParaRPr/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12429346" y="130153"/>
              <a:ext cx="2139716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0" u="none" cap="none" strike="noStrike">
                  <a:solidFill>
                    <a:srgbClr val="FFFFFF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ORGANIZED BY:</a:t>
              </a:r>
              <a:endParaRPr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14501941" y="232228"/>
              <a:ext cx="721119" cy="983344"/>
            </a:xfrm>
            <a:custGeom>
              <a:rect b="b" l="l" r="r" t="t"/>
              <a:pathLst>
                <a:path extrusionOk="0" h="983344" w="721119">
                  <a:moveTo>
                    <a:pt x="0" y="0"/>
                  </a:moveTo>
                  <a:lnTo>
                    <a:pt x="721119" y="0"/>
                  </a:lnTo>
                  <a:lnTo>
                    <a:pt x="721119" y="983344"/>
                  </a:lnTo>
                  <a:lnTo>
                    <a:pt x="0" y="9833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15125170" y="469001"/>
              <a:ext cx="1260579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14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MANIPAL</a:t>
              </a:r>
              <a:endParaRPr/>
            </a:p>
          </p:txBody>
        </p:sp>
        <p:sp>
          <p:nvSpPr>
            <p:cNvPr id="118" name="Google Shape;118;p1"/>
            <p:cNvSpPr txBox="1"/>
            <p:nvPr/>
          </p:nvSpPr>
          <p:spPr>
            <a:xfrm>
              <a:off x="15125170" y="762871"/>
              <a:ext cx="1956349" cy="333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29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ACADEMY OF HIGHER EDUCATION</a:t>
              </a:r>
              <a:endParaRPr/>
            </a:p>
          </p:txBody>
        </p:sp>
        <p:sp>
          <p:nvSpPr>
            <p:cNvPr id="119" name="Google Shape;119;p1"/>
            <p:cNvSpPr txBox="1"/>
            <p:nvPr/>
          </p:nvSpPr>
          <p:spPr>
            <a:xfrm>
              <a:off x="15125170" y="1075295"/>
              <a:ext cx="1956349" cy="138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99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573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Institution of Embrace Diamant in the University</a:t>
              </a:r>
              <a:endParaRPr/>
            </a:p>
          </p:txBody>
        </p:sp>
      </p:grpSp>
      <p:sp>
        <p:nvSpPr>
          <p:cNvPr id="120" name="Google Shape;120;p1"/>
          <p:cNvSpPr txBox="1"/>
          <p:nvPr/>
        </p:nvSpPr>
        <p:spPr>
          <a:xfrm>
            <a:off x="1371600" y="6523502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23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0F172A"/>
                </a:solidFill>
                <a:latin typeface="Playfair Display"/>
              </a:rPr>
              <a:t>YOUR NAME: </a:t>
            </a:r>
            <a:r>
              <a:rPr sz="1500" b="1">
                <a:solidFill>
                  <a:srgbClr val="0F172A"/>
                </a:solidFill>
                <a:latin typeface="Calibri"/>
              </a:rPr>
              <a:t>[Your Name(s)]</a:t>
            </a:r>
            <a:endParaRPr/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Playfair Display"/>
              </a:rPr>
              <a:t>TEAM NAME: </a:t>
            </a:r>
            <a:r>
              <a:rPr sz="1500" b="1">
                <a:solidFill>
                  <a:srgbClr val="0F172A"/>
                </a:solidFill>
                <a:latin typeface="Calibri"/>
              </a:rPr>
              <a:t>The Completeness Crew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Playfair Display"/>
              </a:rPr>
              <a:t>TRACK NO: </a:t>
            </a:r>
            <a:r>
              <a:rPr sz="1500" b="1">
                <a:solidFill>
                  <a:srgbClr val="0F172A"/>
                </a:solidFill>
                <a:latin typeface="Calibri"/>
              </a:rPr>
              <a:t>AI &amp; Enterprise Automation (Open Innovation)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Playfair Display"/>
              </a:rPr>
              <a:t>PROJECT: </a:t>
            </a:r>
            <a:r>
              <a:rPr sz="1500" b="1">
                <a:solidFill>
                  <a:srgbClr val="0D9488"/>
                </a:solidFill>
                <a:latin typeface="Calibri"/>
              </a:rPr>
              <a:t>The Decision Completeness Engine (DCE)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Playfair Display"/>
              </a:rPr>
              <a:t>LIVE DEMO: </a:t>
            </a:r>
            <a:r>
              <a:rPr sz="1500" b="0">
                <a:solidFill>
                  <a:srgbClr val="4F46E5"/>
                </a:solidFill>
                <a:latin typeface="Calibri"/>
              </a:rPr>
              <a:t>https://static-outstanding-palm-clarke.trycloudflare.com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 txBox="1"/>
          <p:nvPr/>
        </p:nvSpPr>
        <p:spPr>
          <a:xfrm>
            <a:off x="1028700" y="838200"/>
            <a:ext cx="7685837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Solution</a:t>
            </a:r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1024128" y="2468880"/>
            <a:ext cx="7863840" cy="6949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365760" bIns="365760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DC2626"/>
                </a:solidFill>
                <a:latin typeface="Calibri"/>
              </a:defRPr>
            </a:pPr>
            <a:r>
              <a:t>THE PROBLEM WE SOLVE</a:t>
            </a:r>
          </a:p>
          <a:p>
            <a:pPr>
              <a:spcAft>
                <a:spcPts val="1600"/>
              </a:spcAft>
              <a:defRPr sz="1300" i="1">
                <a:solidFill>
                  <a:srgbClr val="64748B"/>
                </a:solidFill>
                <a:latin typeface="Calibri"/>
              </a:defRPr>
            </a:pPr>
            <a:r>
              <a:t>Traditional enterprise decision-making &amp; standard AI suffer from three fatal flaws:</a:t>
            </a:r>
          </a:p>
          <a:p>
            <a:pPr>
              <a:spcAft>
                <a:spcPts val="30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1. Scattered Context &amp; Information Silos</a:t>
            </a:r>
          </a:p>
          <a:p>
            <a:pPr>
              <a:spcAft>
                <a:spcPts val="1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In procurement, lending, and claims, critical evidence is fragmented across Google Drive, old email threads, ERP ledgers, and employee heads. Nobody has the full picture at intake.</a:t>
            </a:r>
          </a:p>
          <a:p>
            <a:pPr>
              <a:spcAft>
                <a:spcPts val="30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2. Expensive Decision Ping-Pong</a:t>
            </a:r>
          </a:p>
          <a:p>
            <a:pPr>
              <a:spcAft>
                <a:spcPts val="1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Files bounce between departments for days: 'Where is the SOC2 cert?', 'Did Finance approve?' This repetitive chasing accounts for up to 70% of total approval cycle delays.</a:t>
            </a:r>
          </a:p>
          <a:p>
            <a:pPr>
              <a:spcAft>
                <a:spcPts val="30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3. Generative AI Hallucination &amp; Risk</a:t>
            </a:r>
          </a:p>
          <a:p>
            <a:pPr>
              <a:spcAft>
                <a:spcPts val="1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Standard LLMs ask 'What should I decide?' and confidently guess even when missing 50% of the facts—creating catastrophic compliance, financial, and legal liabilities in production.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326880" y="2468880"/>
            <a:ext cx="7936992" cy="6949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365760" bIns="365760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0D9488"/>
                </a:solidFill>
                <a:latin typeface="Calibri"/>
              </a:defRPr>
            </a:pPr>
            <a:r>
              <a:t>OUR SOLUTION: THE COMPLETENESS ENGINE</a:t>
            </a:r>
          </a:p>
          <a:p>
            <a:pPr>
              <a:spcAft>
                <a:spcPts val="1600"/>
              </a:spcAft>
              <a:defRPr sz="1300" i="1">
                <a:solidFill>
                  <a:srgbClr val="64748B"/>
                </a:solidFill>
                <a:latin typeface="Calibri"/>
              </a:defRPr>
            </a:pPr>
            <a:r>
              <a:t>The core paradigm shift: verify sufficiency before deciding, then self-heal:</a:t>
            </a:r>
          </a:p>
          <a:p>
            <a:pPr>
              <a:spcAft>
                <a:spcPts val="2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1. Core Paradigm Inversion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Instead of asking 'What should I decide?', our AI asks first: 'Do I have enough verified evidence to decide at all?'—mimicking a senior judge or lead physician.</a:t>
            </a:r>
          </a:p>
          <a:p>
            <a:pPr>
              <a:spcAft>
                <a:spcPts val="2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2. Dynamic Evidence Planning (Not Hardcoded)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The AI dynamically reasons about what evidence is required based on request type, transaction value, and risk profile—adapting across 8 enterprise domains.</a:t>
            </a:r>
          </a:p>
          <a:p>
            <a:pPr>
              <a:spcAft>
                <a:spcPts val="2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3. Zero-Hallucination Gatekeeper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Blocks execution when critical items are absent. It refuses to guess and calculates an objective completeness score (0-100%).</a:t>
            </a:r>
          </a:p>
          <a:p>
            <a:pPr>
              <a:spcAft>
                <a:spcPts val="2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4. Autonomous Multi-Source Self-Healing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Silently searches Google Drive vaults, Gmail/M365 archives, NetSuite ERP, and regulatory databases to recover missing documents automatically.</a:t>
            </a:r>
          </a:p>
          <a:p>
            <a:pPr>
              <a:spcAft>
                <a:spcPts val="2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5. Precision Human-in-the-Loop (HITL)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Sends a surgical micro-request for ONLY the single missing piece (e.g. 1-click VP budget approval in 15 seconds, not 30 minutes).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33" name="Google Shape;133;p3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3"/>
          <p:cNvSpPr txBox="1"/>
          <p:nvPr/>
        </p:nvSpPr>
        <p:spPr>
          <a:xfrm>
            <a:off x="1028700" y="838200"/>
            <a:ext cx="13222815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Tech Stack &amp; Architecture</a:t>
            </a:r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1024128" y="2468880"/>
            <a:ext cx="1623974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wrap="square"/>
          <a:lstStyle/>
          <a:p>
            <a:pPr algn="ctr">
              <a:spcAft>
                <a:spcPts val="400"/>
              </a:spcAft>
              <a:defRPr sz="1700" b="1">
                <a:solidFill>
                  <a:srgbClr val="4F46E5"/>
                </a:solidFill>
                <a:latin typeface="Calibri"/>
              </a:defRPr>
            </a:pPr>
            <a:r>
              <a:t>1. Agentic Core &amp; Reasoning Engine</a:t>
            </a:r>
          </a:p>
          <a:p>
            <a:pPr>
              <a:defRPr sz="1350">
                <a:solidFill>
                  <a:srgbClr val="334155"/>
                </a:solidFill>
                <a:latin typeface="Calibri"/>
              </a:defRPr>
            </a:pPr>
            <a:r>
              <a:t>Python 3.13 • Pydantic v2 Type-Safe Schemas • Dynamic Evidence Spec Planner • Gatekeeper Zero-Hallucination Auditor • Pluggable LLM (Groq Llama 3.3 70B / Gemini 1.5 Pro / Local)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24128" y="4187952"/>
            <a:ext cx="1623974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wrap="square"/>
          <a:lstStyle/>
          <a:p>
            <a:pPr algn="ctr">
              <a:spcAft>
                <a:spcPts val="400"/>
              </a:spcAft>
              <a:defRPr sz="1700" b="1">
                <a:solidFill>
                  <a:srgbClr val="0D9488"/>
                </a:solidFill>
                <a:latin typeface="Calibri"/>
              </a:defRPr>
            </a:pPr>
            <a:r>
              <a:t>2. Autonomous Multi-Source Enterprise Connectors</a:t>
            </a:r>
          </a:p>
          <a:p>
            <a:pPr>
              <a:defRPr sz="1350">
                <a:solidFill>
                  <a:srgbClr val="334155"/>
                </a:solidFill>
                <a:latin typeface="Calibri"/>
              </a:defRPr>
            </a:pPr>
            <a:r>
              <a:t>Corporate Google Drive Vault (Indexed PDFs, SOC2, Appraisals) • Mailbox Archive (Gmail / M365 Exchange Threads) • ERP Financial Ledger (NetSuite / SAP GL Balances) • Regulatory Registries (D&amp;B, OFAC, SOS)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24128" y="5907024"/>
            <a:ext cx="1623974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wrap="square"/>
          <a:lstStyle/>
          <a:p>
            <a:pPr algn="ctr">
              <a:spcAft>
                <a:spcPts val="400"/>
              </a:spcAft>
              <a:defRPr sz="1700" b="1">
                <a:solidFill>
                  <a:srgbClr val="D97706"/>
                </a:solidFill>
                <a:latin typeface="Calibri"/>
              </a:defRPr>
            </a:pPr>
            <a:r>
              <a:t>3. Precision Human-in-the-Loop &amp; Execution Dispatchers</a:t>
            </a:r>
          </a:p>
          <a:p>
            <a:pPr>
              <a:defRPr sz="1350">
                <a:solidFill>
                  <a:srgbClr val="334155"/>
                </a:solidFill>
                <a:latin typeface="Calibri"/>
              </a:defRPr>
            </a:pPr>
            <a:r>
              <a:t>Precision Micro-Ask Orchestrator • Webhook Action Cards (Slack / Email 1-Click Interactive Buttons) • Downstream Action Dispatchers (PO Creation, EDI-835 Claims, Term Sheets) • SHA-256 Audit Ledger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024128" y="7626096"/>
            <a:ext cx="1623974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wrap="square"/>
          <a:lstStyle/>
          <a:p>
            <a:pPr algn="ctr">
              <a:spcAft>
                <a:spcPts val="4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4. Visual Decision Studio, API &amp; Cloud Orchestration</a:t>
            </a:r>
          </a:p>
          <a:p>
            <a:pPr>
              <a:defRPr sz="1350">
                <a:solidFill>
                  <a:srgbClr val="334155"/>
                </a:solidFill>
                <a:latin typeface="Calibri"/>
              </a:defRPr>
            </a:pPr>
            <a:r>
              <a:t>Modern Dark-Mode Decision Studio (Tailwind CSS, Lucide Icons) • High-Performance Flask/FastAPI REST API (&lt; 20ms execution) • Cloudflare Secure Global HTTPS Tunnel • Production-Ready n8n Workflow 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40" name="Google Shape;140;p4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TextBox 140"/>
          <p:cNvSpPr txBox="1"/>
          <p:nvPr/>
        </p:nvSpPr>
        <p:spPr>
          <a:xfrm>
            <a:off x="1024128" y="841248"/>
            <a:ext cx="13222224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0">
                <a:solidFill>
                  <a:srgbClr val="5DE0E6"/>
                </a:solidFill>
                <a:latin typeface="Times"/>
              </a:defRPr>
            </a:pPr>
            <a:r>
              <a:t>System Architecture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024128" y="2468880"/>
            <a:ext cx="16239744" cy="6949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365760" bIns="365760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END-TO-END AUTONOMOUS AGENT PIPELINE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[1] REQUEST INTAKE  </a:t>
            </a:r>
            <a:r>
              <a:rPr sz="1150" b="1">
                <a:solidFill>
                  <a:srgbClr val="64748B"/>
                </a:solidFill>
                <a:latin typeface="Calibri"/>
              </a:rPr>
              <a:t>[Dossier Model]  —  </a:t>
            </a:r>
            <a:r>
              <a:rPr sz="1300">
                <a:solidFill>
                  <a:srgbClr val="334155"/>
                </a:solidFill>
                <a:latin typeface="Calibri"/>
              </a:rPr>
              <a:t>Ingests transaction from Form, Email, Webhook, or API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[2] EVIDENCE PLANNER  </a:t>
            </a:r>
            <a:r>
              <a:rPr sz="1150" b="1">
                <a:solidFill>
                  <a:srgbClr val="64748B"/>
                </a:solidFill>
                <a:latin typeface="Calibri"/>
              </a:rPr>
              <a:t>[Pydantic Spec]  —  </a:t>
            </a:r>
            <a:r>
              <a:rPr sz="1300">
                <a:solidFill>
                  <a:srgbClr val="334155"/>
                </a:solidFill>
                <a:latin typeface="Calibri"/>
              </a:rPr>
              <a:t>LLM dynamically infers required evidence spec &amp; confidence thresholds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DC2626"/>
                </a:solidFill>
                <a:latin typeface="Calibri"/>
              </a:rPr>
              <a:t>[3] GAP AUDITOR &amp; GATEKEEPER  </a:t>
            </a:r>
            <a:r>
              <a:rPr sz="1150" b="1">
                <a:solidFill>
                  <a:srgbClr val="64748B"/>
                </a:solidFill>
                <a:latin typeface="Calibri"/>
              </a:rPr>
              <a:t>[Zero-Hallucination Gate]  —  </a:t>
            </a:r>
            <a:r>
              <a:rPr sz="1300">
                <a:solidFill>
                  <a:srgbClr val="334155"/>
                </a:solidFill>
                <a:latin typeface="Calibri"/>
              </a:rPr>
              <a:t>Audits available vs required evidence. If gaps exist: HALT &amp; ENGAGE GATE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D9488"/>
                </a:solidFill>
                <a:latin typeface="Calibri"/>
              </a:rPr>
              <a:t>[4] AUTONOMOUS RETRIEVER  </a:t>
            </a:r>
            <a:r>
              <a:rPr sz="1150" b="1">
                <a:solidFill>
                  <a:srgbClr val="64748B"/>
                </a:solidFill>
                <a:latin typeface="Calibri"/>
              </a:rPr>
              <a:t>[Multi-Source Search]  —  </a:t>
            </a:r>
            <a:r>
              <a:rPr sz="1300">
                <a:solidFill>
                  <a:srgbClr val="334155"/>
                </a:solidFill>
                <a:latin typeface="Calibri"/>
              </a:rPr>
              <a:t>Searches Google Drive Vault, Gmail/M365, NetSuite ERP, Registries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D97706"/>
                </a:solidFill>
                <a:latin typeface="Calibri"/>
              </a:rPr>
              <a:t>[5] PRECISION HITL MICRO-ASK  </a:t>
            </a:r>
            <a:r>
              <a:rPr sz="1150" b="1">
                <a:solidFill>
                  <a:srgbClr val="64748B"/>
                </a:solidFill>
                <a:latin typeface="Calibri"/>
              </a:rPr>
              <a:t>[1-Click Interactive Card]  —  </a:t>
            </a:r>
            <a:r>
              <a:rPr sz="1300">
                <a:solidFill>
                  <a:srgbClr val="334155"/>
                </a:solidFill>
                <a:latin typeface="Calibri"/>
              </a:rPr>
              <a:t>Dispatches surgical Slack/Email card for ONLY the remaining missing delta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6A34A"/>
                </a:solidFill>
                <a:latin typeface="Calibri"/>
              </a:rPr>
              <a:t>[6] DELIBERATOR &amp; VERDICT  </a:t>
            </a:r>
            <a:r>
              <a:rPr sz="1150" b="1">
                <a:solidFill>
                  <a:srgbClr val="64748B"/>
                </a:solidFill>
                <a:latin typeface="Calibri"/>
              </a:rPr>
              <a:t>[Explainable Verdict]  —  </a:t>
            </a:r>
            <a:r>
              <a:rPr sz="1300">
                <a:solidFill>
                  <a:srgbClr val="334155"/>
                </a:solidFill>
                <a:latin typeface="Calibri"/>
              </a:rPr>
              <a:t>Holistic synthesis, calibrated confidence (e.g. 97%), citation-backed reasoning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[7] DOWNSTREAM ACTIONS  </a:t>
            </a:r>
            <a:r>
              <a:rPr sz="1150" b="1">
                <a:solidFill>
                  <a:srgbClr val="64748B"/>
                </a:solidFill>
                <a:latin typeface="Calibri"/>
              </a:rPr>
              <a:t>[Automated Execution]  —  </a:t>
            </a:r>
            <a:r>
              <a:rPr sz="1300">
                <a:solidFill>
                  <a:srgbClr val="334155"/>
                </a:solidFill>
                <a:latin typeface="Calibri"/>
              </a:rPr>
              <a:t>Dispatches PO creation, sends notifications, commits SHA-256 audit ledger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[8] META-LEARNING OPTIMIZER  </a:t>
            </a:r>
            <a:r>
              <a:rPr sz="1150" b="1">
                <a:solidFill>
                  <a:srgbClr val="64748B"/>
                </a:solidFill>
                <a:latin typeface="Calibri"/>
              </a:rPr>
              <a:t>[Continuous Optimization]  —  </a:t>
            </a:r>
            <a:r>
              <a:rPr sz="1300">
                <a:solidFill>
                  <a:srgbClr val="334155"/>
                </a:solidFill>
                <a:latin typeface="Calibri"/>
              </a:rPr>
              <a:t>Telemetry mines blocker patterns; proposes intake form re-engineering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46" name="Google Shape;146;p5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 txBox="1"/>
          <p:nvPr/>
        </p:nvSpPr>
        <p:spPr>
          <a:xfrm>
            <a:off x="1028700" y="838200"/>
            <a:ext cx="13222815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Data Flow Diagram</a:t>
            </a:r>
            <a:endParaRPr/>
          </a:p>
        </p:txBody>
      </p:sp>
      <p:sp>
        <p:nvSpPr>
          <p:cNvPr id="148" name="Rounded Rectangle 147"/>
          <p:cNvSpPr/>
          <p:nvPr/>
        </p:nvSpPr>
        <p:spPr>
          <a:xfrm>
            <a:off x="1024128" y="2468880"/>
            <a:ext cx="16239744" cy="6949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365760" bIns="365760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THE 8-STEP AUTONOMOUS DECISION LIFECYCLE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Step 1: Request Intake Arrives: </a:t>
            </a:r>
            <a:r>
              <a:rPr sz="1300">
                <a:solidFill>
                  <a:srgbClr val="334155"/>
                </a:solidFill>
                <a:latin typeface="Calibri"/>
              </a:rPr>
              <a:t>Transaction arrives via intake form, webhook, or email with initial context &amp; attachments.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Step 2: AI Dynamic Evidence Planning: </a:t>
            </a:r>
            <a:r>
              <a:rPr sz="1300">
                <a:solidFill>
                  <a:srgbClr val="334155"/>
                </a:solidFill>
                <a:latin typeface="Calibri"/>
              </a:rPr>
              <a:t>AI reads the request &amp; context, inferring exact required evidence (price, SLAs, SOC2, budget).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Step 3 &amp; 4: Initial Gap Audit &amp; Gatekeeper Block: </a:t>
            </a:r>
            <a:r>
              <a:rPr sz="1300">
                <a:solidFill>
                  <a:srgbClr val="334155"/>
                </a:solidFill>
                <a:latin typeface="Calibri"/>
              </a:rPr>
              <a:t>Engine cross-checks initial dossier against specs. Gaps found (e.g. SOC2, Budget) -&gt; Engine HALTS.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Step 5: Autonomous Multi-Source Self-Healing: </a:t>
            </a:r>
            <a:r>
              <a:rPr sz="1300">
                <a:solidFill>
                  <a:srgbClr val="334155"/>
                </a:solidFill>
                <a:latin typeface="Calibri"/>
              </a:rPr>
              <a:t>Engine searches connected silos: Google Drive finds SOC2 cert; NetSuite ERP verifies vendor reliability.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Step 6: Precision Human-in-the-Loop (HITL): </a:t>
            </a:r>
            <a:r>
              <a:rPr sz="1300">
                <a:solidFill>
                  <a:srgbClr val="334155"/>
                </a:solidFill>
                <a:latin typeface="Calibri"/>
              </a:rPr>
              <a:t>Only budget approval remains absent. Dispatches targeted Slack card to VP Finance for 1-click sign-off.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Step 7: Deliberation, Verdict &amp; Execution: </a:t>
            </a:r>
            <a:r>
              <a:rPr sz="1300">
                <a:solidFill>
                  <a:srgbClr val="334155"/>
                </a:solidFill>
                <a:latin typeface="Calibri"/>
              </a:rPr>
              <a:t>Dossier 100% complete! AI issues calibrated verdict (Approved, 97% confidence), issues PO &amp; notifies team.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Step 8: Continuous Meta-Learning &amp; Process Mining: </a:t>
            </a:r>
            <a:r>
              <a:rPr sz="1300">
                <a:solidFill>
                  <a:srgbClr val="334155"/>
                </a:solidFill>
                <a:latin typeface="Calibri"/>
              </a:rPr>
              <a:t>Engine analyzes telemetry across decisions; suggests adding budget check to intake form to eliminate future blocks.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53" name="Google Shape;153;p6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6"/>
          <p:cNvSpPr txBox="1"/>
          <p:nvPr/>
        </p:nvSpPr>
        <p:spPr>
          <a:xfrm>
            <a:off x="1028700" y="866775"/>
            <a:ext cx="10751308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Screenshot of Your Project</a:t>
            </a:r>
            <a:endParaRPr/>
          </a:p>
        </p:txBody>
      </p:sp>
      <p:sp>
        <p:nvSpPr>
          <p:cNvPr id="155" name="Rounded Rectangle 154"/>
          <p:cNvSpPr/>
          <p:nvPr/>
        </p:nvSpPr>
        <p:spPr>
          <a:xfrm>
            <a:off x="1024128" y="2331720"/>
            <a:ext cx="16239744" cy="6400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400" b="1">
                <a:solidFill>
                  <a:srgbClr val="4F46E5"/>
                </a:solidFill>
                <a:latin typeface="Calibri"/>
              </a:rPr>
              <a:t>🌐 LIVE CLOUD DEMONSTRATION: </a:t>
            </a:r>
            <a:r>
              <a:rPr sz="1400" b="1">
                <a:solidFill>
                  <a:srgbClr val="0F172A"/>
                </a:solidFill>
                <a:latin typeface="Calibri"/>
              </a:rPr>
              <a:t>https://static-outstanding-palm-clarke.trycloudflare.com  (Fast &lt;50ms, 8 Enterprise Domains)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024128" y="3108960"/>
            <a:ext cx="16239744" cy="6309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274320" wrap="square"/>
          <a:lstStyle/>
          <a:p>
            <a:pPr algn="ctr">
              <a:spcAft>
                <a:spcPts val="8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DECISION COMPLETENESS ENGINE — VISUAL DECISION STUDIO UI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⚡ Real-Time 8-Step Pipeline Stepper: </a:t>
            </a:r>
            <a:r>
              <a:rPr sz="1250">
                <a:solidFill>
                  <a:srgbClr val="334155"/>
                </a:solidFill>
                <a:latin typeface="Calibri"/>
              </a:rPr>
              <a:t>Animated visual transitions from [01 Intake] through [04 Gatekeeper Block] to [07 Final Verdict] and [08 Meta-Learning].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🎛️ Dual-Speed Execution Controls: </a:t>
            </a:r>
            <a:r>
              <a:rPr sz="1250">
                <a:solidFill>
                  <a:srgbClr val="334155"/>
                </a:solidFill>
                <a:latin typeface="Calibri"/>
              </a:rPr>
              <a:t>Switch between ⚡ Turbo Mode (Instant &lt; 50ms) for high-throughput evaluation, and 🏎️ Fast Mode (Animated 350ms) for visual demonstrations.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📋 Live Evidence Specification Matrix: </a:t>
            </a:r>
            <a:r>
              <a:rPr sz="1250">
                <a:solidFill>
                  <a:srgbClr val="334155"/>
                </a:solidFill>
                <a:latin typeface="Calibri"/>
              </a:rPr>
              <a:t>Color-coded status badges: [VERIFIED], [✨ SELF-HEALED from Drive/ERP], [👤 HITL APPROVED], and [❌ MISSING GAP] with source citations &amp; confidence meters.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🛡️ Interactive Zero-Hallucination Gatekeeper: </a:t>
            </a:r>
            <a:r>
              <a:rPr sz="1250">
                <a:solidFill>
                  <a:srgbClr val="334155"/>
                </a:solidFill>
                <a:latin typeface="Calibri"/>
              </a:rPr>
              <a:t>Visual security block card prevents LLM guessing when evidence threshold is unsatisfied; details exact missing delta.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👤 Precision HITL Micro-Ask Simulator: </a:t>
            </a:r>
            <a:r>
              <a:rPr sz="1250">
                <a:solidFill>
                  <a:srgbClr val="334155"/>
                </a:solidFill>
                <a:latin typeface="Calibri"/>
              </a:rPr>
              <a:t>Targeted 1-click interactive approval card simulating Slack/Email push notifications (testable live in the browser).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📊 Continuous Process Mining Dashboard: </a:t>
            </a:r>
            <a:r>
              <a:rPr sz="1250">
                <a:solidFill>
                  <a:srgbClr val="334155"/>
                </a:solidFill>
                <a:latin typeface="Calibri"/>
              </a:rPr>
              <a:t>Live telemetric charts computing Gatekeeper Block Rate (62%), Self-Healing Rate (88%), and automated intake form redesign suggestions.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1028700" y="866775"/>
            <a:ext cx="5533771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Others</a:t>
            </a:r>
            <a:endParaRPr/>
          </a:p>
        </p:txBody>
      </p:sp>
      <p:sp>
        <p:nvSpPr>
          <p:cNvPr id="162" name="Rounded Rectangle 161"/>
          <p:cNvSpPr/>
          <p:nvPr/>
        </p:nvSpPr>
        <p:spPr>
          <a:xfrm>
            <a:off x="1024128" y="2468880"/>
            <a:ext cx="5166360" cy="6949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8 ENTERPRISE DOMAINS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1. Hardware Procurement: </a:t>
            </a:r>
            <a:r>
              <a:rPr sz="1100">
                <a:solidFill>
                  <a:srgbClr val="334155"/>
                </a:solidFill>
                <a:latin typeface="Calibri"/>
              </a:rPr>
              <a:t>$85k Laptops • Recovers SOC2 from Drive; asks VP Finance.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2. FinTech Lending: </a:t>
            </a:r>
            <a:r>
              <a:rPr sz="1100">
                <a:solidFill>
                  <a:srgbClr val="334155"/>
                </a:solidFill>
                <a:latin typeface="Calibri"/>
              </a:rPr>
              <a:t>$250k Apex Revolving • Recovers Form 1120-S &amp; 12M bank records.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3. Executive Hiring: </a:t>
            </a:r>
            <a:r>
              <a:rPr sz="1100">
                <a:solidFill>
                  <a:srgbClr val="334155"/>
                </a:solidFill>
                <a:latin typeface="Calibri"/>
              </a:rPr>
              <a:t>VP Eng Offer • Recovers Sterling background check &amp; reference.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4. Healthcare Claims: </a:t>
            </a:r>
            <a:r>
              <a:rPr sz="1100">
                <a:solidFill>
                  <a:srgbClr val="334155"/>
                </a:solidFill>
                <a:latin typeface="Calibri"/>
              </a:rPr>
              <a:t>$42k Knee Surgery • Recovers surgical op notes &amp; prior auth.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5. Corporate Expense: </a:t>
            </a:r>
            <a:r>
              <a:rPr sz="1100">
                <a:solidFill>
                  <a:srgbClr val="334155"/>
                </a:solidFill>
                <a:latin typeface="Calibri"/>
              </a:rPr>
              <a:t>$14.2k Zurich Dinner • Recovers itemized VAT folio; asks VP.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6. Legal &amp; SaaS Contract: </a:t>
            </a:r>
            <a:r>
              <a:rPr sz="1100">
                <a:solidFill>
                  <a:srgbClr val="334155"/>
                </a:solidFill>
                <a:latin typeface="Calibri"/>
              </a:rPr>
              <a:t>VectorFlow AI ($120k/yr) • Recovers executed DPA &amp; covenants.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7. Cloud Firewall Exemption: </a:t>
            </a:r>
            <a:r>
              <a:rPr sz="1100">
                <a:solidFill>
                  <a:srgbClr val="334155"/>
                </a:solidFill>
                <a:latin typeface="Calibri"/>
              </a:rPr>
              <a:t>Port 9443 Ingress • Discovers partner mTLS cert &amp; 48h TTL.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8. Jumbo Mortgage Loan: </a:t>
            </a:r>
            <a:r>
              <a:rPr sz="1100">
                <a:solidFill>
                  <a:srgbClr val="334155"/>
                </a:solidFill>
                <a:latin typeface="Calibri"/>
              </a:rPr>
              <a:t>$850k Loan • Recovers appraisal ($1.15M, 73.9% LTV) &amp; W-2s.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556248" y="2468880"/>
            <a:ext cx="5166360" cy="6949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t>QUANTIFIABLE ROI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⚡ 90% Turnaround Reduction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Cuts average enterprise approval cycles from 2.5 days down to sub-minute execution.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🛡️ Zero-Hallucination Guarantee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Hard gate strictly halts AI from guessing or making decisions when evidence is incomplete.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⏱️ 15-Sec Human Overhead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Replaces exhausting 40-page document reviews with 1-click targeted micro-approvals.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📈 Process Self-Healing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Continuous process mining diagnoses systemic blockers to permanently optimize intake forms.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2088368" y="2468880"/>
            <a:ext cx="5166360" cy="6949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PRODUCTION DELIVERABLES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📦 Importable n8n Workflow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Full production JSON workflow with AI Agent, Tool &amp; Webhook nodes (`decision_completeness_engine.json`).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🧪 Automated Test Suite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9/9 passing unit &amp; integration tests (`python -m unittest tests/test_engine.py`).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☁️ Multi-Cloud Deployment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Dockerfile, Render (render.yaml), Railway (railway.json), and Vercel configuration ready to deploy.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🔒 Cryptographic Audit Proof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SHA-256 chain-of-custody evidence hashing for regulatory compliance and audit readiness.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